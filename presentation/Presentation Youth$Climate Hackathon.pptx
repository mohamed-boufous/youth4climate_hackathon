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8288000" cy="10287000"/>
  <p:notesSz cx="6858000" cy="9144000"/>
  <p:embeddedFontLst>
    <p:embeddedFont>
      <p:font typeface="TDTD귀욤뭉이" panose="020B0604020202020204" charset="-127"/>
      <p:regular r:id="rId14"/>
    </p:embeddedFont>
    <p:embeddedFont>
      <p:font typeface="Bree Serif" panose="020B0604020202020204" charset="0"/>
      <p:regular r:id="rId15"/>
    </p:embeddedFont>
    <p:embeddedFont>
      <p:font typeface="Calibri" panose="020F0502020204030204" pitchFamily="34" charset="0"/>
      <p:regular r:id="rId16"/>
      <p:bold r:id="rId17"/>
      <p:italic r:id="rId18"/>
      <p:boldItalic r:id="rId19"/>
    </p:embeddedFont>
    <p:embeddedFont>
      <p:font typeface="Canva Sans" panose="020B0604020202020204" charset="0"/>
      <p:regular r:id="rId20"/>
    </p:embeddedFont>
    <p:embeddedFont>
      <p:font typeface="Chau Philomene" panose="020B0604020202020204" charset="0"/>
      <p:regular r:id="rId21"/>
    </p:embeddedFont>
    <p:embeddedFont>
      <p:font typeface="Pompier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39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12493434" y="3604324"/>
            <a:ext cx="5794566" cy="6594100"/>
          </a:xfrm>
          <a:custGeom>
            <a:avLst/>
            <a:gdLst/>
            <a:ahLst/>
            <a:cxnLst/>
            <a:rect l="l" t="t" r="r" b="b"/>
            <a:pathLst>
              <a:path w="5794566" h="6594100">
                <a:moveTo>
                  <a:pt x="0" y="0"/>
                </a:moveTo>
                <a:lnTo>
                  <a:pt x="5794566" y="0"/>
                </a:lnTo>
                <a:lnTo>
                  <a:pt x="5794566" y="6594100"/>
                </a:lnTo>
                <a:lnTo>
                  <a:pt x="0" y="6594100"/>
                </a:lnTo>
                <a:lnTo>
                  <a:pt x="0" y="0"/>
                </a:lnTo>
                <a:close/>
              </a:path>
            </a:pathLst>
          </a:custGeom>
          <a:blipFill>
            <a:blip r:embed="rId2"/>
            <a:stretch>
              <a:fillRect/>
            </a:stretch>
          </a:blipFill>
        </p:spPr>
      </p:sp>
      <p:sp>
        <p:nvSpPr>
          <p:cNvPr id="3" name="TextBox 3"/>
          <p:cNvSpPr txBox="1"/>
          <p:nvPr/>
        </p:nvSpPr>
        <p:spPr>
          <a:xfrm>
            <a:off x="3873942" y="2384249"/>
            <a:ext cx="11842837" cy="2182974"/>
          </a:xfrm>
          <a:prstGeom prst="rect">
            <a:avLst/>
          </a:prstGeom>
        </p:spPr>
        <p:txBody>
          <a:bodyPr lIns="0" tIns="0" rIns="0" bIns="0" rtlCol="0" anchor="t">
            <a:spAutoFit/>
          </a:bodyPr>
          <a:lstStyle/>
          <a:p>
            <a:pPr algn="ctr">
              <a:lnSpc>
                <a:spcPts val="17753"/>
              </a:lnSpc>
            </a:pPr>
            <a:r>
              <a:rPr lang="en-US" sz="12681">
                <a:solidFill>
                  <a:srgbClr val="307834"/>
                </a:solidFill>
                <a:latin typeface="TDTD귀욤뭉이"/>
                <a:ea typeface="TDTD귀욤뭉이"/>
                <a:cs typeface="TDTD귀욤뭉이"/>
                <a:sym typeface="TDTD귀욤뭉이"/>
              </a:rPr>
              <a:t>GreenBrain</a:t>
            </a:r>
          </a:p>
        </p:txBody>
      </p:sp>
      <p:grpSp>
        <p:nvGrpSpPr>
          <p:cNvPr id="4" name="Group 4"/>
          <p:cNvGrpSpPr/>
          <p:nvPr/>
        </p:nvGrpSpPr>
        <p:grpSpPr>
          <a:xfrm>
            <a:off x="1297731" y="5269620"/>
            <a:ext cx="6142613" cy="732422"/>
            <a:chOff x="0" y="0"/>
            <a:chExt cx="1617808" cy="192901"/>
          </a:xfrm>
        </p:grpSpPr>
        <p:sp>
          <p:nvSpPr>
            <p:cNvPr id="5" name="Freeform 5"/>
            <p:cNvSpPr/>
            <p:nvPr/>
          </p:nvSpPr>
          <p:spPr>
            <a:xfrm>
              <a:off x="0" y="0"/>
              <a:ext cx="1617808" cy="192901"/>
            </a:xfrm>
            <a:custGeom>
              <a:avLst/>
              <a:gdLst/>
              <a:ahLst/>
              <a:cxnLst/>
              <a:rect l="l" t="t" r="r" b="b"/>
              <a:pathLst>
                <a:path w="1617808" h="192901">
                  <a:moveTo>
                    <a:pt x="83184" y="0"/>
                  </a:moveTo>
                  <a:lnTo>
                    <a:pt x="1534624" y="0"/>
                  </a:lnTo>
                  <a:cubicBezTo>
                    <a:pt x="1580565" y="0"/>
                    <a:pt x="1617808" y="37243"/>
                    <a:pt x="1617808" y="83184"/>
                  </a:cubicBezTo>
                  <a:lnTo>
                    <a:pt x="1617808" y="109717"/>
                  </a:lnTo>
                  <a:cubicBezTo>
                    <a:pt x="1617808" y="155658"/>
                    <a:pt x="1580565" y="192901"/>
                    <a:pt x="1534624" y="192901"/>
                  </a:cubicBezTo>
                  <a:lnTo>
                    <a:pt x="83184" y="192901"/>
                  </a:lnTo>
                  <a:cubicBezTo>
                    <a:pt x="61122" y="192901"/>
                    <a:pt x="39964" y="184137"/>
                    <a:pt x="24364" y="168537"/>
                  </a:cubicBezTo>
                  <a:cubicBezTo>
                    <a:pt x="8764" y="152937"/>
                    <a:pt x="0" y="131779"/>
                    <a:pt x="0" y="109717"/>
                  </a:cubicBezTo>
                  <a:lnTo>
                    <a:pt x="0" y="83184"/>
                  </a:lnTo>
                  <a:cubicBezTo>
                    <a:pt x="0" y="37243"/>
                    <a:pt x="37243" y="0"/>
                    <a:pt x="83184" y="0"/>
                  </a:cubicBezTo>
                  <a:close/>
                </a:path>
              </a:pathLst>
            </a:custGeom>
            <a:solidFill>
              <a:srgbClr val="CDE5D5"/>
            </a:solidFill>
          </p:spPr>
        </p:sp>
        <p:sp>
          <p:nvSpPr>
            <p:cNvPr id="6" name="TextBox 6"/>
            <p:cNvSpPr txBox="1"/>
            <p:nvPr/>
          </p:nvSpPr>
          <p:spPr>
            <a:xfrm>
              <a:off x="0" y="-38100"/>
              <a:ext cx="1617808" cy="23100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732551" y="5183895"/>
            <a:ext cx="5272973" cy="4826635"/>
          </a:xfrm>
          <a:prstGeom prst="rect">
            <a:avLst/>
          </a:prstGeom>
        </p:spPr>
        <p:txBody>
          <a:bodyPr lIns="0" tIns="0" rIns="0" bIns="0" rtlCol="0" anchor="t">
            <a:spAutoFit/>
          </a:bodyPr>
          <a:lstStyle/>
          <a:p>
            <a:pPr algn="ctr">
              <a:lnSpc>
                <a:spcPts val="6439"/>
              </a:lnSpc>
            </a:pPr>
            <a:r>
              <a:rPr lang="en-US" sz="4599">
                <a:solidFill>
                  <a:srgbClr val="303330"/>
                </a:solidFill>
                <a:latin typeface="Pompiere"/>
                <a:ea typeface="Pompiere"/>
                <a:cs typeface="Pompiere"/>
                <a:sym typeface="Pompiere"/>
              </a:rPr>
              <a:t>  By Our Group:</a:t>
            </a:r>
          </a:p>
          <a:p>
            <a:pPr algn="ctr">
              <a:lnSpc>
                <a:spcPts val="6439"/>
              </a:lnSpc>
            </a:pPr>
            <a:r>
              <a:rPr lang="en-US" sz="4599">
                <a:solidFill>
                  <a:srgbClr val="303330"/>
                </a:solidFill>
                <a:latin typeface="Pompiere"/>
                <a:ea typeface="Pompiere"/>
                <a:cs typeface="Pompiere"/>
                <a:sym typeface="Pompiere"/>
              </a:rPr>
              <a:t>Laila Ilillou </a:t>
            </a:r>
          </a:p>
          <a:p>
            <a:pPr algn="ctr">
              <a:lnSpc>
                <a:spcPts val="6439"/>
              </a:lnSpc>
            </a:pPr>
            <a:r>
              <a:rPr lang="en-US" sz="4599">
                <a:solidFill>
                  <a:srgbClr val="303330"/>
                </a:solidFill>
                <a:latin typeface="Pompiere"/>
                <a:ea typeface="Pompiere"/>
                <a:cs typeface="Pompiere"/>
                <a:sym typeface="Pompiere"/>
              </a:rPr>
              <a:t>Mohamed Boufous</a:t>
            </a:r>
          </a:p>
          <a:p>
            <a:pPr algn="ctr">
              <a:lnSpc>
                <a:spcPts val="6439"/>
              </a:lnSpc>
            </a:pPr>
            <a:r>
              <a:rPr lang="en-US" sz="4599">
                <a:solidFill>
                  <a:srgbClr val="303330"/>
                </a:solidFill>
                <a:latin typeface="Pompiere"/>
                <a:ea typeface="Pompiere"/>
                <a:cs typeface="Pompiere"/>
                <a:sym typeface="Pompiere"/>
              </a:rPr>
              <a:t> Houda Bamhine </a:t>
            </a:r>
          </a:p>
          <a:p>
            <a:pPr algn="ctr">
              <a:lnSpc>
                <a:spcPts val="6439"/>
              </a:lnSpc>
            </a:pPr>
            <a:r>
              <a:rPr lang="en-US" sz="4599">
                <a:solidFill>
                  <a:srgbClr val="303330"/>
                </a:solidFill>
                <a:latin typeface="Pompiere"/>
                <a:ea typeface="Pompiere"/>
                <a:cs typeface="Pompiere"/>
                <a:sym typeface="Pompiere"/>
              </a:rPr>
              <a:t>Abdessalam Ait Oubanali Oussama Benzz</a:t>
            </a:r>
          </a:p>
        </p:txBody>
      </p:sp>
      <p:sp>
        <p:nvSpPr>
          <p:cNvPr id="8" name="Freeform 8"/>
          <p:cNvSpPr/>
          <p:nvPr/>
        </p:nvSpPr>
        <p:spPr>
          <a:xfrm flipH="1" flipV="1">
            <a:off x="0" y="29519"/>
            <a:ext cx="5794566" cy="6594100"/>
          </a:xfrm>
          <a:custGeom>
            <a:avLst/>
            <a:gdLst/>
            <a:ahLst/>
            <a:cxnLst/>
            <a:rect l="l" t="t" r="r" b="b"/>
            <a:pathLst>
              <a:path w="5794566" h="6594100">
                <a:moveTo>
                  <a:pt x="5794566" y="6594101"/>
                </a:moveTo>
                <a:lnTo>
                  <a:pt x="0" y="6594101"/>
                </a:lnTo>
                <a:lnTo>
                  <a:pt x="0" y="0"/>
                </a:lnTo>
                <a:lnTo>
                  <a:pt x="5794566" y="0"/>
                </a:lnTo>
                <a:lnTo>
                  <a:pt x="5794566" y="6594101"/>
                </a:lnTo>
                <a:close/>
              </a:path>
            </a:pathLst>
          </a:custGeom>
          <a:blipFill>
            <a:blip r:embed="rId2"/>
            <a:stretch>
              <a:fillRect/>
            </a:stretch>
          </a:blipFill>
        </p:spPr>
      </p:sp>
      <p:pic>
        <p:nvPicPr>
          <p:cNvPr id="10" name="Picture 9">
            <a:extLst>
              <a:ext uri="{FF2B5EF4-FFF2-40B4-BE49-F238E27FC236}">
                <a16:creationId xmlns:a16="http://schemas.microsoft.com/office/drawing/2014/main" id="{A19DCE5F-2C91-49D5-8FED-BE8D923EA5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98388" y="-893098"/>
            <a:ext cx="4267200" cy="426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0" y="0"/>
            <a:ext cx="8421438" cy="10287000"/>
          </a:xfrm>
          <a:custGeom>
            <a:avLst/>
            <a:gdLst/>
            <a:ahLst/>
            <a:cxnLst/>
            <a:rect l="l" t="t" r="r" b="b"/>
            <a:pathLst>
              <a:path w="8421438" h="10287000">
                <a:moveTo>
                  <a:pt x="0" y="0"/>
                </a:moveTo>
                <a:lnTo>
                  <a:pt x="8421438" y="0"/>
                </a:lnTo>
                <a:lnTo>
                  <a:pt x="8421438" y="10287000"/>
                </a:lnTo>
                <a:lnTo>
                  <a:pt x="0" y="10287000"/>
                </a:lnTo>
                <a:lnTo>
                  <a:pt x="0" y="0"/>
                </a:lnTo>
                <a:close/>
              </a:path>
            </a:pathLst>
          </a:custGeom>
          <a:blipFill>
            <a:blip r:embed="rId2"/>
            <a:stretch>
              <a:fillRect l="-6739" r="-28049"/>
            </a:stretch>
          </a:blipFill>
        </p:spPr>
      </p:sp>
      <p:sp>
        <p:nvSpPr>
          <p:cNvPr id="3" name="Freeform 3"/>
          <p:cNvSpPr/>
          <p:nvPr/>
        </p:nvSpPr>
        <p:spPr>
          <a:xfrm>
            <a:off x="1359689" y="612093"/>
            <a:ext cx="6275070" cy="8229600"/>
          </a:xfrm>
          <a:custGeom>
            <a:avLst/>
            <a:gdLst/>
            <a:ahLst/>
            <a:cxnLst/>
            <a:rect l="l" t="t" r="r" b="b"/>
            <a:pathLst>
              <a:path w="6275070" h="8229600">
                <a:moveTo>
                  <a:pt x="0" y="0"/>
                </a:moveTo>
                <a:lnTo>
                  <a:pt x="6275070" y="0"/>
                </a:lnTo>
                <a:lnTo>
                  <a:pt x="6275070" y="8229600"/>
                </a:lnTo>
                <a:lnTo>
                  <a:pt x="0" y="8229600"/>
                </a:lnTo>
                <a:lnTo>
                  <a:pt x="0" y="0"/>
                </a:lnTo>
                <a:close/>
              </a:path>
            </a:pathLst>
          </a:custGeom>
          <a:blipFill>
            <a:blip r:embed="rId3"/>
            <a:stretch>
              <a:fillRect/>
            </a:stretch>
          </a:blipFill>
        </p:spPr>
      </p:sp>
      <p:sp>
        <p:nvSpPr>
          <p:cNvPr id="4" name="TextBox 4"/>
          <p:cNvSpPr txBox="1"/>
          <p:nvPr/>
        </p:nvSpPr>
        <p:spPr>
          <a:xfrm>
            <a:off x="6163618" y="421593"/>
            <a:ext cx="10200191" cy="1529081"/>
          </a:xfrm>
          <a:prstGeom prst="rect">
            <a:avLst/>
          </a:prstGeom>
        </p:spPr>
        <p:txBody>
          <a:bodyPr lIns="0" tIns="0" rIns="0" bIns="0" rtlCol="0" anchor="t">
            <a:spAutoFit/>
          </a:bodyPr>
          <a:lstStyle/>
          <a:p>
            <a:pPr algn="ctr">
              <a:lnSpc>
                <a:spcPts val="12319"/>
              </a:lnSpc>
            </a:pPr>
            <a:r>
              <a:rPr lang="en-US" sz="8799">
                <a:solidFill>
                  <a:srgbClr val="004AAD"/>
                </a:solidFill>
                <a:latin typeface="TDTD귀욤뭉이"/>
                <a:ea typeface="TDTD귀욤뭉이"/>
                <a:cs typeface="TDTD귀욤뭉이"/>
                <a:sym typeface="TDTD귀욤뭉이"/>
              </a:rPr>
              <a:t>PLAN:</a:t>
            </a:r>
          </a:p>
        </p:txBody>
      </p:sp>
      <p:sp>
        <p:nvSpPr>
          <p:cNvPr id="5" name="TextBox 5"/>
          <p:cNvSpPr txBox="1"/>
          <p:nvPr/>
        </p:nvSpPr>
        <p:spPr>
          <a:xfrm>
            <a:off x="9833365" y="1650557"/>
            <a:ext cx="7878400" cy="8000075"/>
          </a:xfrm>
          <a:prstGeom prst="rect">
            <a:avLst/>
          </a:prstGeom>
        </p:spPr>
        <p:txBody>
          <a:bodyPr lIns="0" tIns="0" rIns="0" bIns="0" rtlCol="0" anchor="t">
            <a:spAutoFit/>
          </a:bodyPr>
          <a:lstStyle/>
          <a:p>
            <a:pPr algn="ctr">
              <a:lnSpc>
                <a:spcPts val="5690"/>
              </a:lnSpc>
            </a:pPr>
            <a:r>
              <a:rPr lang="en-US" sz="4064" dirty="0">
                <a:solidFill>
                  <a:srgbClr val="004AAD"/>
                </a:solidFill>
                <a:latin typeface="TDTD귀욤뭉이"/>
                <a:ea typeface="TDTD귀욤뭉이"/>
                <a:cs typeface="TDTD귀욤뭉이"/>
                <a:sym typeface="TDTD귀욤뭉이"/>
              </a:rPr>
              <a:t>   </a:t>
            </a:r>
          </a:p>
          <a:p>
            <a:pPr algn="l">
              <a:lnSpc>
                <a:spcPts val="5690"/>
              </a:lnSpc>
            </a:pPr>
            <a:r>
              <a:rPr lang="en-US" sz="4064" dirty="0" err="1">
                <a:solidFill>
                  <a:srgbClr val="004AAD"/>
                </a:solidFill>
                <a:latin typeface="TDTD귀욤뭉이"/>
                <a:ea typeface="TDTD귀욤뭉이"/>
                <a:cs typeface="TDTD귀욤뭉이"/>
                <a:sym typeface="TDTD귀욤뭉이"/>
              </a:rPr>
              <a:t>1.Introduction</a:t>
            </a:r>
            <a:endParaRPr lang="en-US" sz="4064" dirty="0">
              <a:solidFill>
                <a:srgbClr val="004AAD"/>
              </a:solidFill>
              <a:latin typeface="TDTD귀욤뭉이"/>
              <a:ea typeface="TDTD귀욤뭉이"/>
              <a:cs typeface="TDTD귀욤뭉이"/>
              <a:sym typeface="TDTD귀욤뭉이"/>
            </a:endParaRPr>
          </a:p>
          <a:p>
            <a:pPr algn="l">
              <a:lnSpc>
                <a:spcPts val="5690"/>
              </a:lnSpc>
            </a:pPr>
            <a:r>
              <a:rPr lang="en-US" sz="4064" dirty="0" err="1">
                <a:solidFill>
                  <a:srgbClr val="004AAD"/>
                </a:solidFill>
                <a:latin typeface="TDTD귀욤뭉이"/>
                <a:ea typeface="TDTD귀욤뭉이"/>
                <a:cs typeface="TDTD귀욤뭉이"/>
                <a:sym typeface="TDTD귀욤뭉이"/>
              </a:rPr>
              <a:t>2.Problématique</a:t>
            </a:r>
            <a:endParaRPr lang="en-US" sz="4064" dirty="0">
              <a:solidFill>
                <a:srgbClr val="004AAD"/>
              </a:solidFill>
              <a:latin typeface="TDTD귀욤뭉이"/>
              <a:ea typeface="TDTD귀욤뭉이"/>
              <a:cs typeface="TDTD귀욤뭉이"/>
              <a:sym typeface="TDTD귀욤뭉이"/>
            </a:endParaRPr>
          </a:p>
          <a:p>
            <a:pPr algn="l">
              <a:lnSpc>
                <a:spcPts val="5690"/>
              </a:lnSpc>
            </a:pPr>
            <a:r>
              <a:rPr lang="en-US" sz="4064" dirty="0" err="1">
                <a:solidFill>
                  <a:srgbClr val="004AAD"/>
                </a:solidFill>
                <a:latin typeface="TDTD귀욤뭉이"/>
                <a:ea typeface="TDTD귀욤뭉이"/>
                <a:cs typeface="TDTD귀욤뭉이"/>
                <a:sym typeface="TDTD귀욤뭉이"/>
              </a:rPr>
              <a:t>3.Infleunce</a:t>
            </a:r>
            <a:r>
              <a:rPr lang="en-US" sz="4064" dirty="0">
                <a:solidFill>
                  <a:srgbClr val="004AAD"/>
                </a:solidFill>
                <a:latin typeface="TDTD귀욤뭉이"/>
                <a:ea typeface="TDTD귀욤뭉이"/>
                <a:cs typeface="TDTD귀욤뭉이"/>
                <a:sym typeface="TDTD귀욤뭉이"/>
              </a:rPr>
              <a:t> du </a:t>
            </a:r>
            <a:r>
              <a:rPr lang="en-US" sz="4064" dirty="0" err="1">
                <a:solidFill>
                  <a:srgbClr val="004AAD"/>
                </a:solidFill>
                <a:latin typeface="TDTD귀욤뭉이"/>
                <a:ea typeface="TDTD귀욤뭉이"/>
                <a:cs typeface="TDTD귀욤뭉이"/>
                <a:sym typeface="TDTD귀욤뭉이"/>
              </a:rPr>
              <a:t>climat</a:t>
            </a:r>
            <a:r>
              <a:rPr lang="en-US" sz="4064" dirty="0">
                <a:solidFill>
                  <a:srgbClr val="004AAD"/>
                </a:solidFill>
                <a:latin typeface="TDTD귀욤뭉이"/>
                <a:ea typeface="TDTD귀욤뭉이"/>
                <a:cs typeface="TDTD귀욤뭉이"/>
                <a:sym typeface="TDTD귀욤뭉이"/>
              </a:rPr>
              <a:t> sur </a:t>
            </a:r>
            <a:r>
              <a:rPr lang="en-US" sz="4064" dirty="0" err="1">
                <a:solidFill>
                  <a:srgbClr val="004AAD"/>
                </a:solidFill>
                <a:latin typeface="TDTD귀욤뭉이"/>
                <a:ea typeface="TDTD귀욤뭉이"/>
                <a:cs typeface="TDTD귀욤뭉이"/>
                <a:sym typeface="TDTD귀욤뭉이"/>
              </a:rPr>
              <a:t>Eau</a:t>
            </a:r>
            <a:endParaRPr lang="en-US" sz="4064" dirty="0">
              <a:solidFill>
                <a:srgbClr val="004AAD"/>
              </a:solidFill>
              <a:latin typeface="TDTD귀욤뭉이"/>
              <a:ea typeface="TDTD귀욤뭉이"/>
              <a:cs typeface="TDTD귀욤뭉이"/>
              <a:sym typeface="TDTD귀욤뭉이"/>
            </a:endParaRPr>
          </a:p>
          <a:p>
            <a:pPr algn="l">
              <a:lnSpc>
                <a:spcPts val="5690"/>
              </a:lnSpc>
            </a:pPr>
            <a:r>
              <a:rPr lang="en-US" sz="4064" dirty="0" err="1">
                <a:solidFill>
                  <a:srgbClr val="004AAD"/>
                </a:solidFill>
                <a:latin typeface="TDTD귀욤뭉이"/>
                <a:ea typeface="TDTD귀욤뭉이"/>
                <a:cs typeface="TDTD귀욤뭉이"/>
                <a:sym typeface="TDTD귀욤뭉이"/>
              </a:rPr>
              <a:t>4.Problème</a:t>
            </a:r>
            <a:r>
              <a:rPr lang="en-US" sz="4064" dirty="0">
                <a:solidFill>
                  <a:srgbClr val="004AAD"/>
                </a:solidFill>
                <a:latin typeface="TDTD귀욤뭉이"/>
                <a:ea typeface="TDTD귀욤뭉이"/>
                <a:cs typeface="TDTD귀욤뭉이"/>
                <a:sym typeface="TDTD귀욤뭉이"/>
              </a:rPr>
              <a:t> </a:t>
            </a:r>
            <a:r>
              <a:rPr lang="en-US" sz="4064" dirty="0" err="1">
                <a:solidFill>
                  <a:srgbClr val="004AAD"/>
                </a:solidFill>
                <a:latin typeface="TDTD귀욤뭉이"/>
                <a:ea typeface="TDTD귀욤뭉이"/>
                <a:cs typeface="TDTD귀욤뭉이"/>
                <a:sym typeface="TDTD귀욤뭉이"/>
              </a:rPr>
              <a:t>d’agriculteur</a:t>
            </a:r>
            <a:endParaRPr lang="en-US" sz="4064" dirty="0">
              <a:solidFill>
                <a:srgbClr val="004AAD"/>
              </a:solidFill>
              <a:latin typeface="TDTD귀욤뭉이"/>
              <a:ea typeface="TDTD귀욤뭉이"/>
              <a:cs typeface="TDTD귀욤뭉이"/>
              <a:sym typeface="TDTD귀욤뭉이"/>
            </a:endParaRPr>
          </a:p>
          <a:p>
            <a:pPr algn="l">
              <a:lnSpc>
                <a:spcPts val="5690"/>
              </a:lnSpc>
            </a:pPr>
            <a:r>
              <a:rPr lang="en-US" sz="4064" dirty="0" err="1">
                <a:solidFill>
                  <a:srgbClr val="004AAD"/>
                </a:solidFill>
                <a:latin typeface="TDTD귀욤뭉이"/>
                <a:ea typeface="TDTD귀욤뭉이"/>
                <a:cs typeface="TDTD귀욤뭉이"/>
                <a:sym typeface="TDTD귀욤뭉이"/>
              </a:rPr>
              <a:t>5.Solution</a:t>
            </a:r>
            <a:r>
              <a:rPr lang="en-US" sz="4064" dirty="0">
                <a:solidFill>
                  <a:srgbClr val="004AAD"/>
                </a:solidFill>
                <a:latin typeface="TDTD귀욤뭉이"/>
                <a:ea typeface="TDTD귀욤뭉이"/>
                <a:cs typeface="TDTD귀욤뭉이"/>
                <a:sym typeface="TDTD귀욤뭉이"/>
              </a:rPr>
              <a:t>(</a:t>
            </a:r>
            <a:r>
              <a:rPr lang="en-US" sz="4064" dirty="0" err="1">
                <a:solidFill>
                  <a:srgbClr val="004AAD"/>
                </a:solidFill>
                <a:latin typeface="TDTD귀욤뭉이"/>
                <a:ea typeface="TDTD귀욤뭉이"/>
                <a:cs typeface="TDTD귀욤뭉이"/>
                <a:sym typeface="TDTD귀욤뭉이"/>
              </a:rPr>
              <a:t>Greenbrain</a:t>
            </a:r>
            <a:r>
              <a:rPr lang="en-US" sz="4064" dirty="0">
                <a:solidFill>
                  <a:srgbClr val="004AAD"/>
                </a:solidFill>
                <a:latin typeface="TDTD귀욤뭉이"/>
                <a:ea typeface="TDTD귀욤뭉이"/>
                <a:cs typeface="TDTD귀욤뭉이"/>
                <a:sym typeface="TDTD귀욤뭉이"/>
              </a:rPr>
              <a:t>)</a:t>
            </a:r>
          </a:p>
          <a:p>
            <a:pPr algn="l">
              <a:lnSpc>
                <a:spcPts val="5690"/>
              </a:lnSpc>
            </a:pPr>
            <a:r>
              <a:rPr lang="en-US" sz="4064" dirty="0">
                <a:solidFill>
                  <a:srgbClr val="004AAD"/>
                </a:solidFill>
                <a:latin typeface="TDTD귀욤뭉이"/>
                <a:ea typeface="TDTD귀욤뭉이"/>
                <a:cs typeface="TDTD귀욤뭉이"/>
                <a:sym typeface="TDTD귀욤뭉이"/>
              </a:rPr>
              <a:t>     5.1 Explication et </a:t>
            </a:r>
            <a:r>
              <a:rPr lang="en-US" sz="4064" dirty="0" err="1">
                <a:solidFill>
                  <a:srgbClr val="004AAD"/>
                </a:solidFill>
                <a:latin typeface="TDTD귀욤뭉이"/>
                <a:ea typeface="TDTD귀욤뭉이"/>
                <a:cs typeface="TDTD귀욤뭉이"/>
                <a:sym typeface="TDTD귀욤뭉이"/>
              </a:rPr>
              <a:t>démo</a:t>
            </a:r>
            <a:endParaRPr lang="en-US" sz="4064" dirty="0">
              <a:solidFill>
                <a:srgbClr val="004AAD"/>
              </a:solidFill>
              <a:latin typeface="TDTD귀욤뭉이"/>
              <a:ea typeface="TDTD귀욤뭉이"/>
              <a:cs typeface="TDTD귀욤뭉이"/>
              <a:sym typeface="TDTD귀욤뭉이"/>
            </a:endParaRPr>
          </a:p>
          <a:p>
            <a:pPr>
              <a:lnSpc>
                <a:spcPts val="5690"/>
              </a:lnSpc>
            </a:pPr>
            <a:r>
              <a:rPr lang="en-US" sz="4064" dirty="0">
                <a:solidFill>
                  <a:srgbClr val="004AAD"/>
                </a:solidFill>
                <a:latin typeface="TDTD귀욤뭉이"/>
                <a:ea typeface="TDTD귀욤뭉이"/>
                <a:cs typeface="TDTD귀욤뭉이"/>
                <a:sym typeface="TDTD귀욤뭉이"/>
              </a:rPr>
              <a:t>     5.2 </a:t>
            </a:r>
            <a:r>
              <a:rPr lang="en-US" sz="4064" dirty="0" err="1">
                <a:solidFill>
                  <a:srgbClr val="004AAD"/>
                </a:solidFill>
                <a:latin typeface="TDTD귀욤뭉이"/>
                <a:ea typeface="TDTD귀욤뭉이"/>
                <a:cs typeface="TDTD귀욤뭉이"/>
                <a:sym typeface="TDTD귀욤뭉이"/>
              </a:rPr>
              <a:t>Comparaison</a:t>
            </a:r>
            <a:r>
              <a:rPr lang="en-US" sz="4064" dirty="0">
                <a:solidFill>
                  <a:srgbClr val="004AAD"/>
                </a:solidFill>
                <a:latin typeface="TDTD귀욤뭉이"/>
                <a:ea typeface="TDTD귀욤뭉이"/>
                <a:cs typeface="TDTD귀욤뭉이"/>
                <a:sym typeface="TDTD귀욤뭉이"/>
              </a:rPr>
              <a:t> </a:t>
            </a:r>
            <a:r>
              <a:rPr lang="en-US" sz="4064" dirty="0" err="1">
                <a:solidFill>
                  <a:srgbClr val="004AAD"/>
                </a:solidFill>
                <a:latin typeface="TDTD귀욤뭉이"/>
                <a:ea typeface="TDTD귀욤뭉이"/>
                <a:cs typeface="TDTD귀욤뭉이"/>
                <a:sym typeface="TDTD귀욤뭉이"/>
              </a:rPr>
              <a:t>concurrentielle</a:t>
            </a:r>
            <a:r>
              <a:rPr lang="en-US" sz="4064" dirty="0">
                <a:solidFill>
                  <a:srgbClr val="004AAD"/>
                </a:solidFill>
                <a:latin typeface="TDTD귀욤뭉이"/>
                <a:ea typeface="TDTD귀욤뭉이"/>
                <a:cs typeface="TDTD귀욤뭉이"/>
                <a:sym typeface="TDTD귀욤뭉이"/>
              </a:rPr>
              <a:t> </a:t>
            </a:r>
          </a:p>
          <a:p>
            <a:pPr algn="l">
              <a:lnSpc>
                <a:spcPts val="5690"/>
              </a:lnSpc>
            </a:pPr>
            <a:r>
              <a:rPr lang="en-US" sz="4064" dirty="0">
                <a:solidFill>
                  <a:srgbClr val="004AAD"/>
                </a:solidFill>
                <a:latin typeface="TDTD귀욤뭉이"/>
                <a:ea typeface="TDTD귀욤뭉이"/>
                <a:cs typeface="TDTD귀욤뭉이"/>
                <a:sym typeface="TDTD귀욤뭉이"/>
              </a:rPr>
              <a:t>     5.3 Impact </a:t>
            </a:r>
          </a:p>
          <a:p>
            <a:pPr algn="l">
              <a:lnSpc>
                <a:spcPts val="5690"/>
              </a:lnSpc>
            </a:pPr>
            <a:r>
              <a:rPr lang="en-US" sz="4064" dirty="0" err="1">
                <a:solidFill>
                  <a:srgbClr val="004AAD"/>
                </a:solidFill>
                <a:latin typeface="TDTD귀욤뭉이"/>
                <a:ea typeface="TDTD귀욤뭉이"/>
                <a:cs typeface="TDTD귀욤뭉이"/>
                <a:sym typeface="TDTD귀욤뭉이"/>
              </a:rPr>
              <a:t>6.Conclusion</a:t>
            </a:r>
            <a:endParaRPr lang="en-US" sz="4064" dirty="0">
              <a:solidFill>
                <a:srgbClr val="004AAD"/>
              </a:solidFill>
              <a:latin typeface="TDTD귀욤뭉이"/>
              <a:ea typeface="TDTD귀욤뭉이"/>
              <a:cs typeface="TDTD귀욤뭉이"/>
              <a:sym typeface="TDTD귀욤뭉이"/>
            </a:endParaRPr>
          </a:p>
          <a:p>
            <a:pPr algn="ctr">
              <a:lnSpc>
                <a:spcPts val="5690"/>
              </a:lnSpc>
            </a:pPr>
            <a:endParaRPr lang="en-US" sz="4064" dirty="0">
              <a:solidFill>
                <a:srgbClr val="004AAD"/>
              </a:solidFill>
              <a:latin typeface="TDTD귀욤뭉이"/>
              <a:ea typeface="TDTD귀욤뭉이"/>
              <a:cs typeface="TDTD귀욤뭉이"/>
              <a:sym typeface="TDTD귀욤뭉이"/>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3428903" y="-1098312"/>
            <a:ext cx="10601739" cy="8229600"/>
          </a:xfrm>
          <a:custGeom>
            <a:avLst/>
            <a:gdLst/>
            <a:ahLst/>
            <a:cxnLst/>
            <a:rect l="l" t="t" r="r" b="b"/>
            <a:pathLst>
              <a:path w="10601739" h="8229600">
                <a:moveTo>
                  <a:pt x="0" y="0"/>
                </a:moveTo>
                <a:lnTo>
                  <a:pt x="10601739" y="0"/>
                </a:lnTo>
                <a:lnTo>
                  <a:pt x="10601739" y="8229600"/>
                </a:lnTo>
                <a:lnTo>
                  <a:pt x="0" y="8229600"/>
                </a:lnTo>
                <a:lnTo>
                  <a:pt x="0" y="0"/>
                </a:lnTo>
                <a:close/>
              </a:path>
            </a:pathLst>
          </a:custGeom>
          <a:blipFill>
            <a:blip r:embed="rId2"/>
            <a:stretch>
              <a:fillRect/>
            </a:stretch>
          </a:blipFill>
        </p:spPr>
      </p:sp>
      <p:sp>
        <p:nvSpPr>
          <p:cNvPr id="3" name="Freeform 3"/>
          <p:cNvSpPr/>
          <p:nvPr/>
        </p:nvSpPr>
        <p:spPr>
          <a:xfrm>
            <a:off x="5347953" y="5322728"/>
            <a:ext cx="12940047" cy="4964272"/>
          </a:xfrm>
          <a:custGeom>
            <a:avLst/>
            <a:gdLst/>
            <a:ahLst/>
            <a:cxnLst/>
            <a:rect l="l" t="t" r="r" b="b"/>
            <a:pathLst>
              <a:path w="12940047" h="4964272">
                <a:moveTo>
                  <a:pt x="0" y="0"/>
                </a:moveTo>
                <a:lnTo>
                  <a:pt x="12940047" y="0"/>
                </a:lnTo>
                <a:lnTo>
                  <a:pt x="12940047" y="4964272"/>
                </a:lnTo>
                <a:lnTo>
                  <a:pt x="0" y="49642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605541" y="1938464"/>
            <a:ext cx="6966132" cy="1477015"/>
          </a:xfrm>
          <a:prstGeom prst="rect">
            <a:avLst/>
          </a:prstGeom>
        </p:spPr>
        <p:txBody>
          <a:bodyPr lIns="0" tIns="0" rIns="0" bIns="0" rtlCol="0" anchor="t">
            <a:spAutoFit/>
          </a:bodyPr>
          <a:lstStyle/>
          <a:p>
            <a:pPr algn="ctr">
              <a:lnSpc>
                <a:spcPts val="12039"/>
              </a:lnSpc>
            </a:pPr>
            <a:r>
              <a:rPr lang="en-US" sz="8599">
                <a:solidFill>
                  <a:srgbClr val="307834"/>
                </a:solidFill>
                <a:latin typeface="TDTD귀욤뭉이"/>
                <a:ea typeface="TDTD귀욤뭉이"/>
                <a:cs typeface="TDTD귀욤뭉이"/>
                <a:sym typeface="TDTD귀욤뭉이"/>
              </a:rPr>
              <a:t>Introduction</a:t>
            </a:r>
          </a:p>
        </p:txBody>
      </p:sp>
      <p:sp>
        <p:nvSpPr>
          <p:cNvPr id="5" name="TextBox 5"/>
          <p:cNvSpPr txBox="1"/>
          <p:nvPr/>
        </p:nvSpPr>
        <p:spPr>
          <a:xfrm>
            <a:off x="8571673" y="463972"/>
            <a:ext cx="9245940" cy="3989796"/>
          </a:xfrm>
          <a:prstGeom prst="rect">
            <a:avLst/>
          </a:prstGeom>
        </p:spPr>
        <p:txBody>
          <a:bodyPr lIns="0" tIns="0" rIns="0" bIns="0" rtlCol="0" anchor="t">
            <a:spAutoFit/>
          </a:bodyPr>
          <a:lstStyle/>
          <a:p>
            <a:pPr algn="just">
              <a:lnSpc>
                <a:spcPts val="5314"/>
              </a:lnSpc>
              <a:spcBef>
                <a:spcPct val="0"/>
              </a:spcBef>
            </a:pPr>
            <a:r>
              <a:rPr lang="en-US" sz="3796">
                <a:solidFill>
                  <a:srgbClr val="2D3197"/>
                </a:solidFill>
                <a:latin typeface="TDTD귀욤뭉이"/>
                <a:ea typeface="TDTD귀욤뭉이"/>
                <a:cs typeface="TDTD귀욤뭉이"/>
                <a:sym typeface="TDTD귀욤뭉이"/>
              </a:rPr>
              <a:t>Dans la région Souss-Massa, les agriculteurs sous serres gaspillent énormément d'eau et d'énergie à cause de systèmes d'irrigation et de climatisation manuels ou peu précis. Ils arrosent souvent trop ou pas assez, sans connaître les besoins réels des plantes.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256374" y="1028700"/>
            <a:ext cx="8373810" cy="9258300"/>
          </a:xfrm>
          <a:custGeom>
            <a:avLst/>
            <a:gdLst/>
            <a:ahLst/>
            <a:cxnLst/>
            <a:rect l="l" t="t" r="r" b="b"/>
            <a:pathLst>
              <a:path w="8373810" h="9258300">
                <a:moveTo>
                  <a:pt x="0" y="0"/>
                </a:moveTo>
                <a:lnTo>
                  <a:pt x="8373810" y="0"/>
                </a:lnTo>
                <a:lnTo>
                  <a:pt x="8373810" y="9258300"/>
                </a:lnTo>
                <a:lnTo>
                  <a:pt x="0" y="9258300"/>
                </a:lnTo>
                <a:lnTo>
                  <a:pt x="0" y="0"/>
                </a:lnTo>
                <a:close/>
              </a:path>
            </a:pathLst>
          </a:custGeom>
          <a:blipFill>
            <a:blip r:embed="rId2"/>
            <a:stretch>
              <a:fillRect t="-2970" b="-2970"/>
            </a:stretch>
          </a:blipFill>
        </p:spPr>
      </p:sp>
      <p:sp>
        <p:nvSpPr>
          <p:cNvPr id="3" name="Freeform 3"/>
          <p:cNvSpPr/>
          <p:nvPr/>
        </p:nvSpPr>
        <p:spPr>
          <a:xfrm>
            <a:off x="1828800" y="5690241"/>
            <a:ext cx="4151122" cy="4114800"/>
          </a:xfrm>
          <a:custGeom>
            <a:avLst/>
            <a:gdLst/>
            <a:ahLst/>
            <a:cxnLst/>
            <a:rect l="l" t="t" r="r" b="b"/>
            <a:pathLst>
              <a:path w="4151122" h="4114800">
                <a:moveTo>
                  <a:pt x="0" y="0"/>
                </a:moveTo>
                <a:lnTo>
                  <a:pt x="4151123" y="0"/>
                </a:lnTo>
                <a:lnTo>
                  <a:pt x="415112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618870" y="90101"/>
            <a:ext cx="10669130" cy="2048949"/>
          </a:xfrm>
          <a:prstGeom prst="rect">
            <a:avLst/>
          </a:prstGeom>
        </p:spPr>
        <p:txBody>
          <a:bodyPr lIns="0" tIns="0" rIns="0" bIns="0" rtlCol="0" anchor="t">
            <a:spAutoFit/>
          </a:bodyPr>
          <a:lstStyle/>
          <a:p>
            <a:pPr algn="ctr">
              <a:lnSpc>
                <a:spcPts val="16740"/>
              </a:lnSpc>
            </a:pPr>
            <a:r>
              <a:rPr lang="en-US" sz="11957">
                <a:solidFill>
                  <a:srgbClr val="2D3197"/>
                </a:solidFill>
                <a:latin typeface="Chau Philomene"/>
                <a:ea typeface="Chau Philomene"/>
                <a:cs typeface="Chau Philomene"/>
                <a:sym typeface="Chau Philomene"/>
              </a:rPr>
              <a:t>2.Problématique</a:t>
            </a:r>
          </a:p>
        </p:txBody>
      </p:sp>
      <p:sp>
        <p:nvSpPr>
          <p:cNvPr id="5" name="TextBox 5"/>
          <p:cNvSpPr txBox="1"/>
          <p:nvPr/>
        </p:nvSpPr>
        <p:spPr>
          <a:xfrm>
            <a:off x="7876610" y="2695264"/>
            <a:ext cx="10153650" cy="5989955"/>
          </a:xfrm>
          <a:prstGeom prst="rect">
            <a:avLst/>
          </a:prstGeom>
        </p:spPr>
        <p:txBody>
          <a:bodyPr lIns="0" tIns="0" rIns="0" bIns="0" rtlCol="0" anchor="t">
            <a:spAutoFit/>
          </a:bodyPr>
          <a:lstStyle/>
          <a:p>
            <a:pPr algn="ctr">
              <a:lnSpc>
                <a:spcPts val="5320"/>
              </a:lnSpc>
              <a:spcBef>
                <a:spcPct val="0"/>
              </a:spcBef>
            </a:pPr>
            <a:r>
              <a:rPr lang="en-US" sz="3800">
                <a:solidFill>
                  <a:srgbClr val="2D3197"/>
                </a:solidFill>
                <a:latin typeface="TDTD귀욤뭉이"/>
                <a:ea typeface="TDTD귀욤뭉이"/>
                <a:cs typeface="TDTD귀욤뭉이"/>
                <a:sym typeface="TDTD귀욤뭉이"/>
              </a:rPr>
              <a:t> les agriculteurs sous serre gaspillent d'importantes quantités d'eau à cause de méthodes d'irrigation inefficaces. Le contrôle manuel du climat dans les serres entraîne une surconsommation d'énergie et des conditions non optimales pour les cultures. Cette gestion approximative réduit les rendements et menace la durabilité de l'agriculture dans une région confrontée au stress hydrique.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1028700" y="3965098"/>
            <a:ext cx="2402655" cy="5506083"/>
          </a:xfrm>
          <a:custGeom>
            <a:avLst/>
            <a:gdLst/>
            <a:ahLst/>
            <a:cxnLst/>
            <a:rect l="l" t="t" r="r" b="b"/>
            <a:pathLst>
              <a:path w="2402655" h="5506083">
                <a:moveTo>
                  <a:pt x="0" y="0"/>
                </a:moveTo>
                <a:lnTo>
                  <a:pt x="2402655" y="0"/>
                </a:lnTo>
                <a:lnTo>
                  <a:pt x="2402655" y="5506083"/>
                </a:lnTo>
                <a:lnTo>
                  <a:pt x="0" y="5506083"/>
                </a:lnTo>
                <a:lnTo>
                  <a:pt x="0" y="0"/>
                </a:lnTo>
                <a:close/>
              </a:path>
            </a:pathLst>
          </a:custGeom>
          <a:blipFill>
            <a:blip r:embed="rId2"/>
            <a:stretch>
              <a:fillRect/>
            </a:stretch>
          </a:blipFill>
        </p:spPr>
      </p:sp>
      <p:sp>
        <p:nvSpPr>
          <p:cNvPr id="3" name="Freeform 3"/>
          <p:cNvSpPr/>
          <p:nvPr/>
        </p:nvSpPr>
        <p:spPr>
          <a:xfrm>
            <a:off x="6692128" y="4556847"/>
            <a:ext cx="4002636" cy="4002636"/>
          </a:xfrm>
          <a:custGeom>
            <a:avLst/>
            <a:gdLst/>
            <a:ahLst/>
            <a:cxnLst/>
            <a:rect l="l" t="t" r="r" b="b"/>
            <a:pathLst>
              <a:path w="4002636" h="4002636">
                <a:moveTo>
                  <a:pt x="0" y="0"/>
                </a:moveTo>
                <a:lnTo>
                  <a:pt x="4002636" y="0"/>
                </a:lnTo>
                <a:lnTo>
                  <a:pt x="4002636" y="4002636"/>
                </a:lnTo>
                <a:lnTo>
                  <a:pt x="0" y="40026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6522798" y="3911564"/>
            <a:ext cx="5242404" cy="5587834"/>
          </a:xfrm>
          <a:custGeom>
            <a:avLst/>
            <a:gdLst/>
            <a:ahLst/>
            <a:cxnLst/>
            <a:rect l="l" t="t" r="r" b="b"/>
            <a:pathLst>
              <a:path w="5242404" h="5587834">
                <a:moveTo>
                  <a:pt x="0" y="0"/>
                </a:moveTo>
                <a:lnTo>
                  <a:pt x="5242404" y="0"/>
                </a:lnTo>
                <a:lnTo>
                  <a:pt x="5242404" y="5587834"/>
                </a:lnTo>
                <a:lnTo>
                  <a:pt x="0" y="5587834"/>
                </a:lnTo>
                <a:lnTo>
                  <a:pt x="0" y="0"/>
                </a:lnTo>
                <a:close/>
              </a:path>
            </a:pathLst>
          </a:custGeom>
          <a:blipFill>
            <a:blip r:embed="rId5"/>
            <a:stretch>
              <a:fillRect/>
            </a:stretch>
          </a:blipFill>
        </p:spPr>
      </p:sp>
      <p:sp>
        <p:nvSpPr>
          <p:cNvPr id="5" name="Freeform 5"/>
          <p:cNvSpPr/>
          <p:nvPr/>
        </p:nvSpPr>
        <p:spPr>
          <a:xfrm>
            <a:off x="12885929" y="3911564"/>
            <a:ext cx="4373371" cy="5293202"/>
          </a:xfrm>
          <a:custGeom>
            <a:avLst/>
            <a:gdLst/>
            <a:ahLst/>
            <a:cxnLst/>
            <a:rect l="l" t="t" r="r" b="b"/>
            <a:pathLst>
              <a:path w="4373371" h="5293202">
                <a:moveTo>
                  <a:pt x="0" y="0"/>
                </a:moveTo>
                <a:lnTo>
                  <a:pt x="4373371" y="0"/>
                </a:lnTo>
                <a:lnTo>
                  <a:pt x="4373371" y="5293202"/>
                </a:lnTo>
                <a:lnTo>
                  <a:pt x="0" y="5293202"/>
                </a:lnTo>
                <a:lnTo>
                  <a:pt x="0" y="0"/>
                </a:lnTo>
                <a:close/>
              </a:path>
            </a:pathLst>
          </a:custGeom>
          <a:blipFill>
            <a:blip r:embed="rId6"/>
            <a:stretch>
              <a:fillRect r="-19052"/>
            </a:stretch>
          </a:blipFill>
        </p:spPr>
      </p:sp>
      <p:sp>
        <p:nvSpPr>
          <p:cNvPr id="6" name="Freeform 6"/>
          <p:cNvSpPr/>
          <p:nvPr/>
        </p:nvSpPr>
        <p:spPr>
          <a:xfrm>
            <a:off x="12885929" y="3781742"/>
            <a:ext cx="4781409" cy="5194349"/>
          </a:xfrm>
          <a:custGeom>
            <a:avLst/>
            <a:gdLst/>
            <a:ahLst/>
            <a:cxnLst/>
            <a:rect l="l" t="t" r="r" b="b"/>
            <a:pathLst>
              <a:path w="4781409" h="5194349">
                <a:moveTo>
                  <a:pt x="0" y="0"/>
                </a:moveTo>
                <a:lnTo>
                  <a:pt x="4781409" y="0"/>
                </a:lnTo>
                <a:lnTo>
                  <a:pt x="4781409" y="5194349"/>
                </a:lnTo>
                <a:lnTo>
                  <a:pt x="0" y="5194349"/>
                </a:lnTo>
                <a:lnTo>
                  <a:pt x="0" y="0"/>
                </a:lnTo>
                <a:close/>
              </a:path>
            </a:pathLst>
          </a:custGeom>
          <a:blipFill>
            <a:blip r:embed="rId7"/>
            <a:stretch>
              <a:fillRect/>
            </a:stretch>
          </a:blipFill>
        </p:spPr>
      </p:sp>
      <p:sp>
        <p:nvSpPr>
          <p:cNvPr id="7" name="TextBox 7"/>
          <p:cNvSpPr txBox="1"/>
          <p:nvPr/>
        </p:nvSpPr>
        <p:spPr>
          <a:xfrm>
            <a:off x="198355" y="204470"/>
            <a:ext cx="15520300" cy="1477009"/>
          </a:xfrm>
          <a:prstGeom prst="rect">
            <a:avLst/>
          </a:prstGeom>
        </p:spPr>
        <p:txBody>
          <a:bodyPr lIns="0" tIns="0" rIns="0" bIns="0" rtlCol="0" anchor="t">
            <a:spAutoFit/>
          </a:bodyPr>
          <a:lstStyle/>
          <a:p>
            <a:pPr algn="ctr">
              <a:lnSpc>
                <a:spcPts val="12040"/>
              </a:lnSpc>
            </a:pPr>
            <a:r>
              <a:rPr lang="en-US" sz="8600">
                <a:solidFill>
                  <a:srgbClr val="307834"/>
                </a:solidFill>
                <a:latin typeface="TDTD귀욤뭉이"/>
                <a:ea typeface="TDTD귀욤뭉이"/>
                <a:cs typeface="TDTD귀욤뭉이"/>
                <a:sym typeface="TDTD귀욤뭉이"/>
              </a:rPr>
              <a:t>3.Infleunce du climat sur Eau:</a:t>
            </a:r>
          </a:p>
        </p:txBody>
      </p:sp>
      <p:sp>
        <p:nvSpPr>
          <p:cNvPr id="8" name="TextBox 8"/>
          <p:cNvSpPr txBox="1"/>
          <p:nvPr/>
        </p:nvSpPr>
        <p:spPr>
          <a:xfrm>
            <a:off x="-688248" y="1942205"/>
            <a:ext cx="6760492" cy="1137277"/>
          </a:xfrm>
          <a:prstGeom prst="rect">
            <a:avLst/>
          </a:prstGeom>
        </p:spPr>
        <p:txBody>
          <a:bodyPr lIns="0" tIns="0" rIns="0" bIns="0" rtlCol="0" anchor="t">
            <a:spAutoFit/>
          </a:bodyPr>
          <a:lstStyle/>
          <a:p>
            <a:pPr algn="ctr">
              <a:lnSpc>
                <a:spcPts val="9240"/>
              </a:lnSpc>
            </a:pPr>
            <a:r>
              <a:rPr lang="en-US" sz="6600">
                <a:solidFill>
                  <a:srgbClr val="303330"/>
                </a:solidFill>
                <a:latin typeface="TDTD귀욤뭉이"/>
                <a:ea typeface="TDTD귀욤뭉이"/>
                <a:cs typeface="TDTD귀욤뭉이"/>
                <a:sym typeface="TDTD귀욤뭉이"/>
              </a:rPr>
              <a:t>1.Température</a:t>
            </a:r>
          </a:p>
        </p:txBody>
      </p:sp>
      <p:sp>
        <p:nvSpPr>
          <p:cNvPr id="9" name="TextBox 9"/>
          <p:cNvSpPr txBox="1"/>
          <p:nvPr/>
        </p:nvSpPr>
        <p:spPr>
          <a:xfrm>
            <a:off x="5605303" y="1942197"/>
            <a:ext cx="5863184" cy="1137285"/>
          </a:xfrm>
          <a:prstGeom prst="rect">
            <a:avLst/>
          </a:prstGeom>
        </p:spPr>
        <p:txBody>
          <a:bodyPr lIns="0" tIns="0" rIns="0" bIns="0" rtlCol="0" anchor="t">
            <a:spAutoFit/>
          </a:bodyPr>
          <a:lstStyle/>
          <a:p>
            <a:pPr algn="ctr">
              <a:lnSpc>
                <a:spcPts val="9240"/>
              </a:lnSpc>
            </a:pPr>
            <a:r>
              <a:rPr lang="en-US" sz="6600">
                <a:solidFill>
                  <a:srgbClr val="303330"/>
                </a:solidFill>
                <a:latin typeface="TDTD귀욤뭉이"/>
                <a:ea typeface="TDTD귀욤뭉이"/>
                <a:cs typeface="TDTD귀욤뭉이"/>
                <a:sym typeface="TDTD귀욤뭉이"/>
              </a:rPr>
              <a:t>2.Humidité</a:t>
            </a:r>
          </a:p>
        </p:txBody>
      </p:sp>
      <p:sp>
        <p:nvSpPr>
          <p:cNvPr id="10" name="TextBox 10"/>
          <p:cNvSpPr txBox="1"/>
          <p:nvPr/>
        </p:nvSpPr>
        <p:spPr>
          <a:xfrm>
            <a:off x="11793381" y="1942197"/>
            <a:ext cx="6494619" cy="1137285"/>
          </a:xfrm>
          <a:prstGeom prst="rect">
            <a:avLst/>
          </a:prstGeom>
        </p:spPr>
        <p:txBody>
          <a:bodyPr lIns="0" tIns="0" rIns="0" bIns="0" rtlCol="0" anchor="t">
            <a:spAutoFit/>
          </a:bodyPr>
          <a:lstStyle/>
          <a:p>
            <a:pPr algn="ctr">
              <a:lnSpc>
                <a:spcPts val="9240"/>
              </a:lnSpc>
            </a:pPr>
            <a:r>
              <a:rPr lang="en-US" sz="6600">
                <a:solidFill>
                  <a:srgbClr val="303330"/>
                </a:solidFill>
                <a:latin typeface="TDTD귀욤뭉이"/>
                <a:ea typeface="TDTD귀욤뭉이"/>
                <a:cs typeface="TDTD귀욤뭉이"/>
                <a:sym typeface="TDTD귀욤뭉이"/>
              </a:rPr>
              <a:t>3.Luminosité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0" y="474361"/>
            <a:ext cx="6960003" cy="9812639"/>
          </a:xfrm>
          <a:custGeom>
            <a:avLst/>
            <a:gdLst/>
            <a:ahLst/>
            <a:cxnLst/>
            <a:rect l="l" t="t" r="r" b="b"/>
            <a:pathLst>
              <a:path w="6960003" h="9812639">
                <a:moveTo>
                  <a:pt x="0" y="0"/>
                </a:moveTo>
                <a:lnTo>
                  <a:pt x="6960003" y="0"/>
                </a:lnTo>
                <a:lnTo>
                  <a:pt x="6960003" y="9812639"/>
                </a:lnTo>
                <a:lnTo>
                  <a:pt x="0" y="9812639"/>
                </a:lnTo>
                <a:lnTo>
                  <a:pt x="0" y="0"/>
                </a:lnTo>
                <a:close/>
              </a:path>
            </a:pathLst>
          </a:custGeom>
          <a:blipFill>
            <a:blip r:embed="rId2"/>
            <a:stretch>
              <a:fillRect l="-8025" r="-8796" b="-3811"/>
            </a:stretch>
          </a:blipFill>
        </p:spPr>
      </p:sp>
      <p:sp>
        <p:nvSpPr>
          <p:cNvPr id="3" name="TextBox 3"/>
          <p:cNvSpPr txBox="1"/>
          <p:nvPr/>
        </p:nvSpPr>
        <p:spPr>
          <a:xfrm>
            <a:off x="7995846" y="321961"/>
            <a:ext cx="10054328" cy="2676701"/>
          </a:xfrm>
          <a:prstGeom prst="rect">
            <a:avLst/>
          </a:prstGeom>
        </p:spPr>
        <p:txBody>
          <a:bodyPr lIns="0" tIns="0" rIns="0" bIns="0" rtlCol="0" anchor="t">
            <a:spAutoFit/>
          </a:bodyPr>
          <a:lstStyle/>
          <a:p>
            <a:pPr algn="ctr">
              <a:lnSpc>
                <a:spcPts val="10713"/>
              </a:lnSpc>
            </a:pPr>
            <a:r>
              <a:rPr lang="en-US" sz="7652">
                <a:solidFill>
                  <a:srgbClr val="256E2A"/>
                </a:solidFill>
                <a:latin typeface="Bree Serif"/>
                <a:ea typeface="Bree Serif"/>
                <a:cs typeface="Bree Serif"/>
                <a:sym typeface="Bree Serif"/>
              </a:rPr>
              <a:t>4.Problème </a:t>
            </a:r>
          </a:p>
          <a:p>
            <a:pPr algn="ctr">
              <a:lnSpc>
                <a:spcPts val="10713"/>
              </a:lnSpc>
            </a:pPr>
            <a:r>
              <a:rPr lang="en-US" sz="7652">
                <a:solidFill>
                  <a:srgbClr val="256E2A"/>
                </a:solidFill>
                <a:latin typeface="Bree Serif"/>
                <a:ea typeface="Bree Serif"/>
                <a:cs typeface="Bree Serif"/>
                <a:sym typeface="Bree Serif"/>
              </a:rPr>
              <a:t>d’agriculteur</a:t>
            </a:r>
          </a:p>
        </p:txBody>
      </p:sp>
      <p:sp>
        <p:nvSpPr>
          <p:cNvPr id="4" name="TextBox 4"/>
          <p:cNvSpPr txBox="1"/>
          <p:nvPr/>
        </p:nvSpPr>
        <p:spPr>
          <a:xfrm>
            <a:off x="6882974" y="3620563"/>
            <a:ext cx="11405026" cy="5989955"/>
          </a:xfrm>
          <a:prstGeom prst="rect">
            <a:avLst/>
          </a:prstGeom>
        </p:spPr>
        <p:txBody>
          <a:bodyPr lIns="0" tIns="0" rIns="0" bIns="0" rtlCol="0" anchor="t">
            <a:spAutoFit/>
          </a:bodyPr>
          <a:lstStyle/>
          <a:p>
            <a:pPr algn="ctr">
              <a:lnSpc>
                <a:spcPts val="5320"/>
              </a:lnSpc>
              <a:spcBef>
                <a:spcPct val="0"/>
              </a:spcBef>
            </a:pPr>
            <a:r>
              <a:rPr lang="en-US" sz="3800">
                <a:solidFill>
                  <a:srgbClr val="303330"/>
                </a:solidFill>
                <a:latin typeface="TDTD귀욤뭉이"/>
                <a:ea typeface="TDTD귀욤뭉이"/>
                <a:cs typeface="TDTD귀욤뭉이"/>
                <a:sym typeface="TDTD귀욤뭉이"/>
              </a:rPr>
              <a:t>La région Souss-Massa, cœur de l'horticulture marocaine, fait face à un déficit hydrique structurel supérieur à 150 millions de mètres cubes par an. Une grande partie de la production, destinée à l'export, provient de cultures sous serres, qui consomment environ 90% des ressources en eau de la région. La surexploitation des nappes phréatiques entraîne une baisse du niveau des eaux et une salinisation, notamment près des côtes.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748770" y="1605299"/>
            <a:ext cx="6842913" cy="3849139"/>
          </a:xfrm>
          <a:custGeom>
            <a:avLst/>
            <a:gdLst/>
            <a:ahLst/>
            <a:cxnLst/>
            <a:rect l="l" t="t" r="r" b="b"/>
            <a:pathLst>
              <a:path w="6842913" h="3849139">
                <a:moveTo>
                  <a:pt x="0" y="0"/>
                </a:moveTo>
                <a:lnTo>
                  <a:pt x="6842914" y="0"/>
                </a:lnTo>
                <a:lnTo>
                  <a:pt x="6842914" y="3849138"/>
                </a:lnTo>
                <a:lnTo>
                  <a:pt x="0" y="3849138"/>
                </a:lnTo>
                <a:lnTo>
                  <a:pt x="0" y="0"/>
                </a:lnTo>
                <a:close/>
              </a:path>
            </a:pathLst>
          </a:custGeom>
          <a:blipFill>
            <a:blip r:embed="rId2"/>
            <a:stretch>
              <a:fillRect/>
            </a:stretch>
          </a:blipFill>
        </p:spPr>
      </p:sp>
      <p:sp>
        <p:nvSpPr>
          <p:cNvPr id="3" name="TextBox 3"/>
          <p:cNvSpPr txBox="1"/>
          <p:nvPr/>
        </p:nvSpPr>
        <p:spPr>
          <a:xfrm>
            <a:off x="-656602" y="-219075"/>
            <a:ext cx="7612735" cy="1824374"/>
          </a:xfrm>
          <a:prstGeom prst="rect">
            <a:avLst/>
          </a:prstGeom>
        </p:spPr>
        <p:txBody>
          <a:bodyPr lIns="0" tIns="0" rIns="0" bIns="0" rtlCol="0" anchor="t">
            <a:spAutoFit/>
          </a:bodyPr>
          <a:lstStyle/>
          <a:p>
            <a:pPr algn="ctr">
              <a:lnSpc>
                <a:spcPts val="14804"/>
              </a:lnSpc>
            </a:pPr>
            <a:r>
              <a:rPr lang="en-US" sz="10574">
                <a:solidFill>
                  <a:srgbClr val="307834"/>
                </a:solidFill>
                <a:latin typeface="TDTD귀욤뭉이"/>
                <a:ea typeface="TDTD귀욤뭉이"/>
                <a:cs typeface="TDTD귀욤뭉이"/>
                <a:sym typeface="TDTD귀욤뭉이"/>
              </a:rPr>
              <a:t>5.Solution:</a:t>
            </a:r>
          </a:p>
        </p:txBody>
      </p:sp>
      <p:sp>
        <p:nvSpPr>
          <p:cNvPr id="4" name="TextBox 4"/>
          <p:cNvSpPr txBox="1"/>
          <p:nvPr/>
        </p:nvSpPr>
        <p:spPr>
          <a:xfrm>
            <a:off x="2844966" y="311481"/>
            <a:ext cx="16909654" cy="887086"/>
          </a:xfrm>
          <a:prstGeom prst="rect">
            <a:avLst/>
          </a:prstGeom>
        </p:spPr>
        <p:txBody>
          <a:bodyPr lIns="0" tIns="0" rIns="0" bIns="0" rtlCol="0" anchor="t">
            <a:spAutoFit/>
          </a:bodyPr>
          <a:lstStyle/>
          <a:p>
            <a:pPr algn="ctr">
              <a:lnSpc>
                <a:spcPts val="7280"/>
              </a:lnSpc>
            </a:pPr>
            <a:r>
              <a:rPr lang="en-US" sz="5200">
                <a:solidFill>
                  <a:srgbClr val="303330"/>
                </a:solidFill>
                <a:latin typeface="TDTD귀욤뭉이"/>
                <a:ea typeface="TDTD귀욤뭉이"/>
                <a:cs typeface="TDTD귀욤뭉이"/>
                <a:sym typeface="TDTD귀욤뭉이"/>
              </a:rPr>
              <a:t>5.1:Explications et Démonstrations:</a:t>
            </a:r>
          </a:p>
        </p:txBody>
      </p:sp>
      <p:sp>
        <p:nvSpPr>
          <p:cNvPr id="5" name="TextBox 5"/>
          <p:cNvSpPr txBox="1"/>
          <p:nvPr/>
        </p:nvSpPr>
        <p:spPr>
          <a:xfrm>
            <a:off x="8439150" y="1727407"/>
            <a:ext cx="9848850" cy="3322955"/>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TDTD귀욤뭉이"/>
                <a:ea typeface="TDTD귀욤뭉이"/>
                <a:cs typeface="TDTD귀욤뭉이"/>
                <a:sym typeface="TDTD귀욤뭉이"/>
              </a:rPr>
              <a:t>Notre système de serre intelligente repose sur une architecture intégrée combinant capteurs distribués, système de vision par Skycam, contrôleur central et automates pour assurer une gestion optimale de l'irrigation et du climat.</a:t>
            </a:r>
          </a:p>
        </p:txBody>
      </p:sp>
      <p:sp>
        <p:nvSpPr>
          <p:cNvPr id="6" name="TextBox 6"/>
          <p:cNvSpPr txBox="1"/>
          <p:nvPr/>
        </p:nvSpPr>
        <p:spPr>
          <a:xfrm>
            <a:off x="748770" y="5597312"/>
            <a:ext cx="9646374" cy="4224380"/>
          </a:xfrm>
          <a:prstGeom prst="rect">
            <a:avLst/>
          </a:prstGeom>
        </p:spPr>
        <p:txBody>
          <a:bodyPr lIns="0" tIns="0" rIns="0" bIns="0" rtlCol="0" anchor="t">
            <a:spAutoFit/>
          </a:bodyPr>
          <a:lstStyle/>
          <a:p>
            <a:pPr algn="ctr">
              <a:lnSpc>
                <a:spcPts val="4799"/>
              </a:lnSpc>
              <a:spcBef>
                <a:spcPct val="0"/>
              </a:spcBef>
            </a:pPr>
            <a:r>
              <a:rPr lang="en-US" sz="3428">
                <a:solidFill>
                  <a:srgbClr val="000000"/>
                </a:solidFill>
                <a:latin typeface="TDTD귀욤뭉이"/>
                <a:ea typeface="TDTD귀욤뭉이"/>
                <a:cs typeface="TDTD귀욤뭉이"/>
                <a:sym typeface="TDTD귀욤뭉이"/>
              </a:rPr>
              <a:t>Notre système intelligent pour serres combine des capteurs, une IA centrale et une Skycam innovante. Cette caméra fixe analyse l'état des plantes et diffuse un hydro-rétenteur autour des racines pour retenir l'eau dans le sol. La solution optimise l'irrigation et le climat tout en réduisant considérablement le gaspillage d'eau.</a:t>
            </a:r>
          </a:p>
        </p:txBody>
      </p:sp>
      <p:sp>
        <p:nvSpPr>
          <p:cNvPr id="7" name="Freeform 7"/>
          <p:cNvSpPr/>
          <p:nvPr/>
        </p:nvSpPr>
        <p:spPr>
          <a:xfrm>
            <a:off x="10395144" y="5143500"/>
            <a:ext cx="7273058" cy="4751953"/>
          </a:xfrm>
          <a:custGeom>
            <a:avLst/>
            <a:gdLst/>
            <a:ahLst/>
            <a:cxnLst/>
            <a:rect l="l" t="t" r="r" b="b"/>
            <a:pathLst>
              <a:path w="7273058" h="4751953">
                <a:moveTo>
                  <a:pt x="0" y="0"/>
                </a:moveTo>
                <a:lnTo>
                  <a:pt x="7273059" y="0"/>
                </a:lnTo>
                <a:lnTo>
                  <a:pt x="7273059" y="4751953"/>
                </a:lnTo>
                <a:lnTo>
                  <a:pt x="0" y="4751953"/>
                </a:lnTo>
                <a:lnTo>
                  <a:pt x="0" y="0"/>
                </a:lnTo>
                <a:close/>
              </a:path>
            </a:pathLst>
          </a:custGeom>
          <a:blipFill>
            <a:blip r:embed="rId3"/>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595150" y="5667236"/>
            <a:ext cx="15110614" cy="4302100"/>
          </a:xfrm>
          <a:custGeom>
            <a:avLst/>
            <a:gdLst/>
            <a:ahLst/>
            <a:cxnLst/>
            <a:rect l="l" t="t" r="r" b="b"/>
            <a:pathLst>
              <a:path w="15110614" h="4302100">
                <a:moveTo>
                  <a:pt x="0" y="0"/>
                </a:moveTo>
                <a:lnTo>
                  <a:pt x="15110614" y="0"/>
                </a:lnTo>
                <a:lnTo>
                  <a:pt x="15110614" y="4302100"/>
                </a:lnTo>
                <a:lnTo>
                  <a:pt x="0" y="4302100"/>
                </a:lnTo>
                <a:lnTo>
                  <a:pt x="0" y="0"/>
                </a:lnTo>
                <a:close/>
              </a:path>
            </a:pathLst>
          </a:custGeom>
          <a:blipFill>
            <a:blip r:embed="rId2"/>
            <a:stretch>
              <a:fillRect/>
            </a:stretch>
          </a:blipFill>
        </p:spPr>
      </p:sp>
      <p:sp>
        <p:nvSpPr>
          <p:cNvPr id="3" name="Freeform 3"/>
          <p:cNvSpPr/>
          <p:nvPr/>
        </p:nvSpPr>
        <p:spPr>
          <a:xfrm>
            <a:off x="11781845" y="648822"/>
            <a:ext cx="6179397" cy="7816512"/>
          </a:xfrm>
          <a:custGeom>
            <a:avLst/>
            <a:gdLst/>
            <a:ahLst/>
            <a:cxnLst/>
            <a:rect l="l" t="t" r="r" b="b"/>
            <a:pathLst>
              <a:path w="6179397" h="7816512">
                <a:moveTo>
                  <a:pt x="0" y="0"/>
                </a:moveTo>
                <a:lnTo>
                  <a:pt x="6179398" y="0"/>
                </a:lnTo>
                <a:lnTo>
                  <a:pt x="6179398" y="7816512"/>
                </a:lnTo>
                <a:lnTo>
                  <a:pt x="0" y="7816512"/>
                </a:lnTo>
                <a:lnTo>
                  <a:pt x="0" y="0"/>
                </a:lnTo>
                <a:close/>
              </a:path>
            </a:pathLst>
          </a:custGeom>
          <a:blipFill>
            <a:blip r:embed="rId3"/>
            <a:stretch>
              <a:fillRect/>
            </a:stretch>
          </a:blipFill>
        </p:spPr>
      </p:sp>
      <p:sp>
        <p:nvSpPr>
          <p:cNvPr id="4" name="TextBox 4"/>
          <p:cNvSpPr txBox="1"/>
          <p:nvPr/>
        </p:nvSpPr>
        <p:spPr>
          <a:xfrm>
            <a:off x="360147" y="591672"/>
            <a:ext cx="14007852" cy="3453130"/>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Bree Serif"/>
                <a:ea typeface="Bree Serif"/>
                <a:cs typeface="Bree Serif"/>
                <a:sym typeface="Bree Serif"/>
              </a:rPr>
              <a:t>Notre système intelligent analyse les images de la Skycam et agit immédiatement :</a:t>
            </a:r>
          </a:p>
          <a:p>
            <a:pPr algn="l">
              <a:lnSpc>
                <a:spcPts val="3919"/>
              </a:lnSpc>
              <a:spcBef>
                <a:spcPct val="0"/>
              </a:spcBef>
            </a:pPr>
            <a:endParaRPr lang="en-US" sz="2799">
              <a:solidFill>
                <a:srgbClr val="000000"/>
              </a:solidFill>
              <a:latin typeface="Bree Serif"/>
              <a:ea typeface="Bree Serif"/>
              <a:cs typeface="Bree Serif"/>
              <a:sym typeface="Bree Serif"/>
            </a:endParaRPr>
          </a:p>
          <a:p>
            <a:pPr marL="604519" lvl="1" indent="-302260" algn="l">
              <a:lnSpc>
                <a:spcPts val="3919"/>
              </a:lnSpc>
              <a:spcBef>
                <a:spcPct val="0"/>
              </a:spcBef>
              <a:buFont typeface="Arial"/>
              <a:buChar char="•"/>
            </a:pPr>
            <a:r>
              <a:rPr lang="en-US" sz="2799">
                <a:solidFill>
                  <a:srgbClr val="000000"/>
                </a:solidFill>
                <a:latin typeface="Bree Serif"/>
                <a:ea typeface="Bree Serif"/>
                <a:cs typeface="Bree Serif"/>
                <a:sym typeface="Bree Serif"/>
              </a:rPr>
              <a:t>Contrôle précis du débit d'eau en temps réel</a:t>
            </a:r>
          </a:p>
          <a:p>
            <a:pPr marL="604519" lvl="1" indent="-302260" algn="l">
              <a:lnSpc>
                <a:spcPts val="3919"/>
              </a:lnSpc>
              <a:spcBef>
                <a:spcPct val="0"/>
              </a:spcBef>
              <a:buFont typeface="Arial"/>
              <a:buChar char="•"/>
            </a:pPr>
            <a:r>
              <a:rPr lang="en-US" sz="2799">
                <a:solidFill>
                  <a:srgbClr val="000000"/>
                </a:solidFill>
                <a:latin typeface="Bree Serif"/>
                <a:ea typeface="Bree Serif"/>
                <a:cs typeface="Bree Serif"/>
                <a:sym typeface="Bree Serif"/>
              </a:rPr>
              <a:t>Libération automatique des hydro-rétenteurs depuis la Skycam</a:t>
            </a:r>
          </a:p>
          <a:p>
            <a:pPr marL="604519" lvl="1" indent="-302260" algn="l">
              <a:lnSpc>
                <a:spcPts val="3919"/>
              </a:lnSpc>
              <a:spcBef>
                <a:spcPct val="0"/>
              </a:spcBef>
              <a:buFont typeface="Arial"/>
              <a:buChar char="•"/>
            </a:pPr>
            <a:r>
              <a:rPr lang="en-US" sz="2799">
                <a:solidFill>
                  <a:srgbClr val="000000"/>
                </a:solidFill>
                <a:latin typeface="Bree Serif"/>
                <a:ea typeface="Bree Serif"/>
                <a:cs typeface="Bree Serif"/>
                <a:sym typeface="Bree Serif"/>
              </a:rPr>
              <a:t>Gestion synchronisée de l'irrigation et de la rétention d'eau</a:t>
            </a:r>
          </a:p>
          <a:p>
            <a:pPr marL="604519" lvl="1" indent="-302260" algn="l">
              <a:lnSpc>
                <a:spcPts val="3919"/>
              </a:lnSpc>
              <a:spcBef>
                <a:spcPct val="0"/>
              </a:spcBef>
              <a:buFont typeface="Arial"/>
              <a:buChar char="•"/>
            </a:pPr>
            <a:r>
              <a:rPr lang="en-US" sz="2799">
                <a:solidFill>
                  <a:srgbClr val="000000"/>
                </a:solidFill>
                <a:latin typeface="Bree Serif"/>
                <a:ea typeface="Bree Serif"/>
                <a:cs typeface="Bree Serif"/>
                <a:sym typeface="Bree Serif"/>
              </a:rPr>
              <a:t>Réaction proactive aux besoins des plantes</a:t>
            </a:r>
          </a:p>
          <a:p>
            <a:pPr algn="l">
              <a:lnSpc>
                <a:spcPts val="3919"/>
              </a:lnSpc>
              <a:spcBef>
                <a:spcPct val="0"/>
              </a:spcBef>
            </a:pPr>
            <a:endParaRPr lang="en-US" sz="2799">
              <a:solidFill>
                <a:srgbClr val="000000"/>
              </a:solidFill>
              <a:latin typeface="Bree Serif"/>
              <a:ea typeface="Bree Serif"/>
              <a:cs typeface="Bree Serif"/>
              <a:sym typeface="Bree Seri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Freeform 2"/>
          <p:cNvSpPr/>
          <p:nvPr/>
        </p:nvSpPr>
        <p:spPr>
          <a:xfrm>
            <a:off x="8473901" y="5394373"/>
            <a:ext cx="9270182" cy="4402309"/>
          </a:xfrm>
          <a:custGeom>
            <a:avLst/>
            <a:gdLst/>
            <a:ahLst/>
            <a:cxnLst/>
            <a:rect l="l" t="t" r="r" b="b"/>
            <a:pathLst>
              <a:path w="9270182" h="4402309">
                <a:moveTo>
                  <a:pt x="0" y="0"/>
                </a:moveTo>
                <a:lnTo>
                  <a:pt x="9270182" y="0"/>
                </a:lnTo>
                <a:lnTo>
                  <a:pt x="9270182" y="4402310"/>
                </a:lnTo>
                <a:lnTo>
                  <a:pt x="0" y="4402310"/>
                </a:lnTo>
                <a:lnTo>
                  <a:pt x="0" y="0"/>
                </a:lnTo>
                <a:close/>
              </a:path>
            </a:pathLst>
          </a:custGeom>
          <a:blipFill>
            <a:blip r:embed="rId2"/>
            <a:stretch>
              <a:fillRect/>
            </a:stretch>
          </a:blipFill>
        </p:spPr>
      </p:sp>
      <p:sp>
        <p:nvSpPr>
          <p:cNvPr id="3" name="Freeform 3"/>
          <p:cNvSpPr/>
          <p:nvPr/>
        </p:nvSpPr>
        <p:spPr>
          <a:xfrm>
            <a:off x="748851" y="495168"/>
            <a:ext cx="6587969" cy="4262913"/>
          </a:xfrm>
          <a:custGeom>
            <a:avLst/>
            <a:gdLst/>
            <a:ahLst/>
            <a:cxnLst/>
            <a:rect l="l" t="t" r="r" b="b"/>
            <a:pathLst>
              <a:path w="6587969" h="4262913">
                <a:moveTo>
                  <a:pt x="0" y="0"/>
                </a:moveTo>
                <a:lnTo>
                  <a:pt x="6587969" y="0"/>
                </a:lnTo>
                <a:lnTo>
                  <a:pt x="6587969" y="4262913"/>
                </a:lnTo>
                <a:lnTo>
                  <a:pt x="0" y="4262913"/>
                </a:lnTo>
                <a:lnTo>
                  <a:pt x="0" y="0"/>
                </a:lnTo>
                <a:close/>
              </a:path>
            </a:pathLst>
          </a:custGeom>
          <a:blipFill>
            <a:blip r:embed="rId3"/>
            <a:stretch>
              <a:fillRect l="-216" t="-31303" b="-16216"/>
            </a:stretch>
          </a:blipFill>
        </p:spPr>
      </p:sp>
      <p:sp>
        <p:nvSpPr>
          <p:cNvPr id="4" name="TextBox 4"/>
          <p:cNvSpPr txBox="1"/>
          <p:nvPr/>
        </p:nvSpPr>
        <p:spPr>
          <a:xfrm>
            <a:off x="8041692" y="796555"/>
            <a:ext cx="10115550" cy="3123997"/>
          </a:xfrm>
          <a:prstGeom prst="rect">
            <a:avLst/>
          </a:prstGeom>
        </p:spPr>
        <p:txBody>
          <a:bodyPr lIns="0" tIns="0" rIns="0" bIns="0" rtlCol="0" anchor="t">
            <a:spAutoFit/>
          </a:bodyPr>
          <a:lstStyle/>
          <a:p>
            <a:pPr algn="ctr">
              <a:lnSpc>
                <a:spcPts val="4060"/>
              </a:lnSpc>
              <a:spcBef>
                <a:spcPct val="0"/>
              </a:spcBef>
            </a:pPr>
            <a:r>
              <a:rPr lang="en-US" sz="2900" dirty="0">
                <a:solidFill>
                  <a:srgbClr val="000000"/>
                </a:solidFill>
                <a:latin typeface="TDTD귀욤뭉이"/>
                <a:ea typeface="TDTD귀욤뭉이"/>
                <a:cs typeface="TDTD귀욤뭉이"/>
                <a:sym typeface="TDTD귀욤뭉이"/>
              </a:rPr>
              <a:t>Le drone </a:t>
            </a:r>
            <a:r>
              <a:rPr lang="en-US" sz="2900" dirty="0" err="1">
                <a:solidFill>
                  <a:srgbClr val="000000"/>
                </a:solidFill>
                <a:latin typeface="TDTD귀욤뭉이"/>
                <a:ea typeface="TDTD귀욤뭉이"/>
                <a:cs typeface="TDTD귀욤뭉이"/>
                <a:sym typeface="TDTD귀욤뭉이"/>
              </a:rPr>
              <a:t>collecte</a:t>
            </a:r>
            <a:r>
              <a:rPr lang="en-US" sz="2900" dirty="0">
                <a:solidFill>
                  <a:srgbClr val="000000"/>
                </a:solidFill>
                <a:latin typeface="TDTD귀욤뭉이"/>
                <a:ea typeface="TDTD귀욤뭉이"/>
                <a:cs typeface="TDTD귀욤뭉이"/>
                <a:sym typeface="TDTD귀욤뭉이"/>
              </a:rPr>
              <a:t> des </a:t>
            </a:r>
            <a:r>
              <a:rPr lang="en-US" sz="2900" dirty="0" err="1">
                <a:solidFill>
                  <a:srgbClr val="000000"/>
                </a:solidFill>
                <a:latin typeface="TDTD귀욤뭉이"/>
                <a:ea typeface="TDTD귀욤뭉이"/>
                <a:cs typeface="TDTD귀욤뭉이"/>
                <a:sym typeface="TDTD귀욤뭉이"/>
              </a:rPr>
              <a:t>données</a:t>
            </a:r>
            <a:r>
              <a:rPr lang="en-US" sz="2900" dirty="0">
                <a:solidFill>
                  <a:srgbClr val="000000"/>
                </a:solidFill>
                <a:latin typeface="TDTD귀욤뭉이"/>
                <a:ea typeface="TDTD귀욤뭉이"/>
                <a:cs typeface="TDTD귀욤뭉이"/>
                <a:sym typeface="TDTD귀욤뭉이"/>
              </a:rPr>
              <a:t> grâce à </a:t>
            </a:r>
            <a:r>
              <a:rPr lang="en-US" sz="2900" dirty="0" err="1">
                <a:solidFill>
                  <a:srgbClr val="000000"/>
                </a:solidFill>
                <a:latin typeface="TDTD귀욤뭉이"/>
                <a:ea typeface="TDTD귀욤뭉이"/>
                <a:cs typeface="TDTD귀욤뭉이"/>
                <a:sym typeface="TDTD귀욤뭉이"/>
              </a:rPr>
              <a:t>ses</a:t>
            </a:r>
            <a:r>
              <a:rPr lang="en-US" sz="2900" dirty="0">
                <a:solidFill>
                  <a:srgbClr val="000000"/>
                </a:solidFill>
                <a:latin typeface="TDTD귀욤뭉이"/>
                <a:ea typeface="TDTD귀욤뭉이"/>
                <a:cs typeface="TDTD귀욤뭉이"/>
                <a:sym typeface="TDTD귀욤뭉이"/>
              </a:rPr>
              <a:t> </a:t>
            </a:r>
            <a:r>
              <a:rPr lang="en-US" sz="2900" dirty="0" err="1">
                <a:solidFill>
                  <a:srgbClr val="000000"/>
                </a:solidFill>
                <a:latin typeface="TDTD귀욤뭉이"/>
                <a:ea typeface="TDTD귀욤뭉이"/>
                <a:cs typeface="TDTD귀욤뭉이"/>
                <a:sym typeface="TDTD귀욤뭉이"/>
              </a:rPr>
              <a:t>capteurs</a:t>
            </a:r>
            <a:r>
              <a:rPr lang="en-US" sz="2900" dirty="0">
                <a:solidFill>
                  <a:srgbClr val="000000"/>
                </a:solidFill>
                <a:latin typeface="TDTD귀욤뭉이"/>
                <a:ea typeface="TDTD귀욤뭉이"/>
                <a:cs typeface="TDTD귀욤뭉이"/>
                <a:sym typeface="TDTD귀욤뭉이"/>
              </a:rPr>
              <a:t> </a:t>
            </a:r>
            <a:r>
              <a:rPr lang="en-US" sz="2900" dirty="0" err="1">
                <a:solidFill>
                  <a:srgbClr val="000000"/>
                </a:solidFill>
                <a:latin typeface="TDTD귀욤뭉이"/>
                <a:ea typeface="TDTD귀욤뭉이"/>
                <a:cs typeface="TDTD귀욤뭉이"/>
                <a:sym typeface="TDTD귀욤뭉이"/>
              </a:rPr>
              <a:t>embarqués</a:t>
            </a:r>
            <a:r>
              <a:rPr lang="en-US" sz="2900" dirty="0">
                <a:solidFill>
                  <a:srgbClr val="000000"/>
                </a:solidFill>
                <a:latin typeface="TDTD귀욤뭉이"/>
                <a:ea typeface="TDTD귀욤뭉이"/>
                <a:cs typeface="TDTD귀욤뭉이"/>
                <a:sym typeface="TDTD귀욤뭉이"/>
              </a:rPr>
              <a:t> :</a:t>
            </a:r>
          </a:p>
          <a:p>
            <a:pPr algn="ctr">
              <a:lnSpc>
                <a:spcPts val="4060"/>
              </a:lnSpc>
              <a:spcBef>
                <a:spcPct val="0"/>
              </a:spcBef>
            </a:pPr>
            <a:endParaRPr lang="en-US" sz="2900" dirty="0">
              <a:solidFill>
                <a:srgbClr val="000000"/>
              </a:solidFill>
              <a:latin typeface="TDTD귀욤뭉이"/>
              <a:ea typeface="TDTD귀욤뭉이"/>
              <a:cs typeface="TDTD귀욤뭉이"/>
              <a:sym typeface="TDTD귀욤뭉이"/>
            </a:endParaRPr>
          </a:p>
          <a:p>
            <a:pPr marL="626111" lvl="1" indent="-313055">
              <a:lnSpc>
                <a:spcPts val="4060"/>
              </a:lnSpc>
              <a:spcBef>
                <a:spcPct val="0"/>
              </a:spcBef>
              <a:buFont typeface="Arial"/>
              <a:buChar char="•"/>
            </a:pPr>
            <a:r>
              <a:rPr lang="fr-FR" sz="2900" dirty="0">
                <a:solidFill>
                  <a:srgbClr val="000000"/>
                </a:solidFill>
                <a:latin typeface="TDTD귀욤뭉이"/>
                <a:ea typeface="TDTD귀욤뭉이"/>
                <a:cs typeface="TDTD귀욤뭉이"/>
                <a:sym typeface="TDTD귀욤뭉이"/>
              </a:rPr>
              <a:t>Caméra haute résolution pour l'état visuel des plantes</a:t>
            </a:r>
          </a:p>
          <a:p>
            <a:pPr marL="626111" lvl="1" indent="-313055">
              <a:lnSpc>
                <a:spcPts val="4060"/>
              </a:lnSpc>
              <a:spcBef>
                <a:spcPct val="0"/>
              </a:spcBef>
              <a:buFont typeface="Arial"/>
              <a:buChar char="•"/>
            </a:pPr>
            <a:r>
              <a:rPr lang="fr-FR" sz="2900" dirty="0">
                <a:solidFill>
                  <a:srgbClr val="000000"/>
                </a:solidFill>
                <a:latin typeface="TDTD귀욤뭉이"/>
                <a:ea typeface="TDTD귀욤뭉이"/>
                <a:cs typeface="TDTD귀욤뭉이"/>
                <a:sym typeface="TDTD귀욤뭉이"/>
              </a:rPr>
              <a:t>Caméra thermique pour détecter le stress hydrique</a:t>
            </a:r>
          </a:p>
          <a:p>
            <a:pPr marL="626111" lvl="1" indent="-313055">
              <a:lnSpc>
                <a:spcPts val="4060"/>
              </a:lnSpc>
              <a:spcBef>
                <a:spcPct val="0"/>
              </a:spcBef>
              <a:buFont typeface="Arial"/>
              <a:buChar char="•"/>
            </a:pPr>
            <a:r>
              <a:rPr lang="fr-FR" sz="2900" dirty="0">
                <a:solidFill>
                  <a:srgbClr val="000000"/>
                </a:solidFill>
                <a:latin typeface="TDTD귀욤뭉이"/>
                <a:ea typeface="TDTD귀욤뭉이"/>
                <a:cs typeface="TDTD귀욤뭉이"/>
                <a:sym typeface="TDTD귀욤뭉이"/>
              </a:rPr>
              <a:t>Capteur d’humidité et de température de la serre </a:t>
            </a:r>
          </a:p>
          <a:p>
            <a:pPr marL="626111" lvl="1" indent="-313055">
              <a:lnSpc>
                <a:spcPts val="4060"/>
              </a:lnSpc>
              <a:spcBef>
                <a:spcPct val="0"/>
              </a:spcBef>
              <a:buFont typeface="Arial"/>
              <a:buChar char="•"/>
            </a:pPr>
            <a:r>
              <a:rPr lang="fr-FR" sz="2900" dirty="0">
                <a:solidFill>
                  <a:srgbClr val="000000"/>
                </a:solidFill>
                <a:latin typeface="TDTD귀욤뭉이"/>
                <a:ea typeface="TDTD귀욤뭉이"/>
                <a:cs typeface="TDTD귀욤뭉이"/>
                <a:sym typeface="TDTD귀욤뭉이"/>
              </a:rPr>
              <a:t>Capteur de luminosité de la serre</a:t>
            </a:r>
            <a:endParaRPr lang="en-US" sz="2900" dirty="0">
              <a:solidFill>
                <a:srgbClr val="000000"/>
              </a:solidFill>
              <a:latin typeface="TDTD귀욤뭉이"/>
              <a:ea typeface="TDTD귀욤뭉이"/>
              <a:cs typeface="TDTD귀욤뭉이"/>
              <a:sym typeface="TDTD귀욤뭉이"/>
            </a:endParaRPr>
          </a:p>
        </p:txBody>
      </p:sp>
      <p:sp>
        <p:nvSpPr>
          <p:cNvPr id="5" name="TextBox 5"/>
          <p:cNvSpPr txBox="1"/>
          <p:nvPr/>
        </p:nvSpPr>
        <p:spPr>
          <a:xfrm>
            <a:off x="318561" y="5076825"/>
            <a:ext cx="7448550" cy="507365"/>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TDTD귀욤뭉이"/>
                <a:ea typeface="TDTD귀욤뭉이"/>
                <a:cs typeface="TDTD귀욤뭉이"/>
                <a:sym typeface="TDTD귀욤뭉이"/>
              </a:rPr>
              <a:t>Notre IA analyse les données en 4 étapes clés :</a:t>
            </a:r>
          </a:p>
        </p:txBody>
      </p:sp>
      <p:sp>
        <p:nvSpPr>
          <p:cNvPr id="6" name="TextBox 6"/>
          <p:cNvSpPr txBox="1"/>
          <p:nvPr/>
        </p:nvSpPr>
        <p:spPr>
          <a:xfrm>
            <a:off x="509061" y="5899198"/>
            <a:ext cx="4305300" cy="2050415"/>
          </a:xfrm>
          <a:prstGeom prst="rect">
            <a:avLst/>
          </a:prstGeom>
        </p:spPr>
        <p:txBody>
          <a:bodyPr lIns="0" tIns="0" rIns="0" bIns="0" rtlCol="0" anchor="t">
            <a:spAutoFit/>
          </a:bodyPr>
          <a:lstStyle/>
          <a:p>
            <a:pPr marL="626109" lvl="1" indent="-313054" algn="just">
              <a:lnSpc>
                <a:spcPts val="4059"/>
              </a:lnSpc>
              <a:spcBef>
                <a:spcPct val="0"/>
              </a:spcBef>
              <a:buAutoNum type="arabicPeriod"/>
            </a:pPr>
            <a:r>
              <a:rPr lang="en-US" sz="2899">
                <a:solidFill>
                  <a:srgbClr val="000000"/>
                </a:solidFill>
                <a:latin typeface="TDTD귀욤뭉이"/>
                <a:ea typeface="TDTD귀욤뭉이"/>
                <a:cs typeface="TDTD귀욤뭉이"/>
                <a:sym typeface="TDTD귀욤뭉이"/>
              </a:rPr>
              <a:t>Fusion des données</a:t>
            </a:r>
          </a:p>
          <a:p>
            <a:pPr marL="626109" lvl="1" indent="-313054" algn="just">
              <a:lnSpc>
                <a:spcPts val="4059"/>
              </a:lnSpc>
              <a:spcBef>
                <a:spcPct val="0"/>
              </a:spcBef>
              <a:buAutoNum type="arabicPeriod"/>
            </a:pPr>
            <a:r>
              <a:rPr lang="en-US" sz="2899">
                <a:solidFill>
                  <a:srgbClr val="000000"/>
                </a:solidFill>
                <a:latin typeface="TDTD귀욤뭉이"/>
                <a:ea typeface="TDTD귀욤뭉이"/>
                <a:cs typeface="TDTD귀욤뭉이"/>
                <a:sym typeface="TDTD귀욤뭉이"/>
              </a:rPr>
              <a:t>Diagnostic intelligent</a:t>
            </a:r>
          </a:p>
          <a:p>
            <a:pPr marL="626109" lvl="1" indent="-313054" algn="just">
              <a:lnSpc>
                <a:spcPts val="4059"/>
              </a:lnSpc>
              <a:spcBef>
                <a:spcPct val="0"/>
              </a:spcBef>
              <a:buAutoNum type="arabicPeriod"/>
            </a:pPr>
            <a:r>
              <a:rPr lang="en-US" sz="2899">
                <a:solidFill>
                  <a:srgbClr val="000000"/>
                </a:solidFill>
                <a:latin typeface="TDTD귀욤뭉이"/>
                <a:ea typeface="TDTD귀욤뭉이"/>
                <a:cs typeface="TDTD귀욤뭉이"/>
                <a:sym typeface="TDTD귀욤뭉이"/>
              </a:rPr>
              <a:t>Prédiction proactive</a:t>
            </a:r>
          </a:p>
          <a:p>
            <a:pPr marL="626109" lvl="1" indent="-313054" algn="just">
              <a:lnSpc>
                <a:spcPts val="4059"/>
              </a:lnSpc>
              <a:spcBef>
                <a:spcPct val="0"/>
              </a:spcBef>
              <a:buAutoNum type="arabicPeriod"/>
            </a:pPr>
            <a:r>
              <a:rPr lang="en-US" sz="2899">
                <a:solidFill>
                  <a:srgbClr val="000000"/>
                </a:solidFill>
                <a:latin typeface="TDTD귀욤뭉이"/>
                <a:ea typeface="TDTD귀욤뭉이"/>
                <a:cs typeface="TDTD귀욤뭉이"/>
                <a:sym typeface="TDTD귀욤뭉이"/>
              </a:rPr>
              <a:t>Décision automatisée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80235" y="1918295"/>
            <a:ext cx="11431748" cy="6450410"/>
          </a:xfrm>
          <a:custGeom>
            <a:avLst/>
            <a:gdLst/>
            <a:ahLst/>
            <a:cxnLst/>
            <a:rect l="l" t="t" r="r" b="b"/>
            <a:pathLst>
              <a:path w="11431748" h="6450410">
                <a:moveTo>
                  <a:pt x="0" y="0"/>
                </a:moveTo>
                <a:lnTo>
                  <a:pt x="11431748" y="0"/>
                </a:lnTo>
                <a:lnTo>
                  <a:pt x="11431748" y="6450410"/>
                </a:lnTo>
                <a:lnTo>
                  <a:pt x="0" y="6450410"/>
                </a:lnTo>
                <a:lnTo>
                  <a:pt x="0" y="0"/>
                </a:lnTo>
                <a:close/>
              </a:path>
            </a:pathLst>
          </a:custGeom>
          <a:blipFill>
            <a:blip r:embed="rId2"/>
            <a:stretch>
              <a:fillRect/>
            </a:stretch>
          </a:blipFill>
        </p:spPr>
      </p:sp>
      <p:sp>
        <p:nvSpPr>
          <p:cNvPr id="3" name="Freeform 3"/>
          <p:cNvSpPr/>
          <p:nvPr/>
        </p:nvSpPr>
        <p:spPr>
          <a:xfrm>
            <a:off x="12493434" y="3560821"/>
            <a:ext cx="5794566" cy="6594100"/>
          </a:xfrm>
          <a:custGeom>
            <a:avLst/>
            <a:gdLst/>
            <a:ahLst/>
            <a:cxnLst/>
            <a:rect l="l" t="t" r="r" b="b"/>
            <a:pathLst>
              <a:path w="5794566" h="6594100">
                <a:moveTo>
                  <a:pt x="0" y="0"/>
                </a:moveTo>
                <a:lnTo>
                  <a:pt x="5794566" y="0"/>
                </a:lnTo>
                <a:lnTo>
                  <a:pt x="5794566" y="6594100"/>
                </a:lnTo>
                <a:lnTo>
                  <a:pt x="0" y="6594100"/>
                </a:lnTo>
                <a:lnTo>
                  <a:pt x="0" y="0"/>
                </a:lnTo>
                <a:close/>
              </a:path>
            </a:pathLst>
          </a:custGeom>
          <a:blipFill>
            <a:blip r:embed="rId3"/>
            <a:stretch>
              <a:fillRect/>
            </a:stretch>
          </a:blipFill>
        </p:spPr>
      </p:sp>
      <p:sp>
        <p:nvSpPr>
          <p:cNvPr id="4" name="TextBox 4"/>
          <p:cNvSpPr txBox="1"/>
          <p:nvPr/>
        </p:nvSpPr>
        <p:spPr>
          <a:xfrm>
            <a:off x="1028700" y="223520"/>
            <a:ext cx="15713966" cy="1318889"/>
          </a:xfrm>
          <a:prstGeom prst="rect">
            <a:avLst/>
          </a:prstGeom>
        </p:spPr>
        <p:txBody>
          <a:bodyPr lIns="0" tIns="0" rIns="0" bIns="0" rtlCol="0" anchor="t">
            <a:spAutoFit/>
          </a:bodyPr>
          <a:lstStyle/>
          <a:p>
            <a:pPr marL="0" lvl="0" indent="0" algn="ctr">
              <a:lnSpc>
                <a:spcPts val="10780"/>
              </a:lnSpc>
              <a:spcBef>
                <a:spcPct val="0"/>
              </a:spcBef>
            </a:pPr>
            <a:r>
              <a:rPr lang="en-US" sz="7700" u="none" strike="noStrike">
                <a:solidFill>
                  <a:srgbClr val="303330"/>
                </a:solidFill>
                <a:latin typeface="TDTD귀욤뭉이"/>
                <a:ea typeface="TDTD귀욤뭉이"/>
                <a:cs typeface="TDTD귀욤뭉이"/>
                <a:sym typeface="TDTD귀욤뭉이"/>
              </a:rPr>
              <a:t>5.2:Comparaison concurrentielle: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27835" y="4135600"/>
            <a:ext cx="4067655" cy="3919740"/>
          </a:xfrm>
          <a:custGeom>
            <a:avLst/>
            <a:gdLst/>
            <a:ahLst/>
            <a:cxnLst/>
            <a:rect l="l" t="t" r="r" b="b"/>
            <a:pathLst>
              <a:path w="4067655" h="3919740">
                <a:moveTo>
                  <a:pt x="0" y="0"/>
                </a:moveTo>
                <a:lnTo>
                  <a:pt x="4067655" y="0"/>
                </a:lnTo>
                <a:lnTo>
                  <a:pt x="4067655" y="3919740"/>
                </a:lnTo>
                <a:lnTo>
                  <a:pt x="0" y="39197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90149" y="4038070"/>
            <a:ext cx="4544458" cy="4114800"/>
          </a:xfrm>
          <a:custGeom>
            <a:avLst/>
            <a:gdLst/>
            <a:ahLst/>
            <a:cxnLst/>
            <a:rect l="l" t="t" r="r" b="b"/>
            <a:pathLst>
              <a:path w="4544458" h="4114800">
                <a:moveTo>
                  <a:pt x="0" y="0"/>
                </a:moveTo>
                <a:lnTo>
                  <a:pt x="4544458" y="0"/>
                </a:lnTo>
                <a:lnTo>
                  <a:pt x="454445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343511" y="7200900"/>
            <a:ext cx="2236304" cy="2057400"/>
          </a:xfrm>
          <a:custGeom>
            <a:avLst/>
            <a:gdLst/>
            <a:ahLst/>
            <a:cxnLst/>
            <a:rect l="l" t="t" r="r" b="b"/>
            <a:pathLst>
              <a:path w="2236304" h="2057400">
                <a:moveTo>
                  <a:pt x="0" y="0"/>
                </a:moveTo>
                <a:lnTo>
                  <a:pt x="2236304" y="0"/>
                </a:lnTo>
                <a:lnTo>
                  <a:pt x="2236304"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2905315" y="3741476"/>
            <a:ext cx="3806636" cy="4707988"/>
          </a:xfrm>
          <a:custGeom>
            <a:avLst/>
            <a:gdLst/>
            <a:ahLst/>
            <a:cxnLst/>
            <a:rect l="l" t="t" r="r" b="b"/>
            <a:pathLst>
              <a:path w="3806636" h="4707988">
                <a:moveTo>
                  <a:pt x="0" y="0"/>
                </a:moveTo>
                <a:lnTo>
                  <a:pt x="3806636" y="0"/>
                </a:lnTo>
                <a:lnTo>
                  <a:pt x="3806636" y="4707988"/>
                </a:lnTo>
                <a:lnTo>
                  <a:pt x="0" y="4707988"/>
                </a:lnTo>
                <a:lnTo>
                  <a:pt x="0" y="0"/>
                </a:lnTo>
                <a:close/>
              </a:path>
            </a:pathLst>
          </a:custGeom>
          <a:blipFill>
            <a:blip r:embed="rId8"/>
            <a:stretch>
              <a:fillRect l="-59936" r="-59936"/>
            </a:stretch>
          </a:blipFill>
        </p:spPr>
      </p:sp>
      <p:sp>
        <p:nvSpPr>
          <p:cNvPr id="6" name="TextBox 6"/>
          <p:cNvSpPr txBox="1"/>
          <p:nvPr/>
        </p:nvSpPr>
        <p:spPr>
          <a:xfrm>
            <a:off x="-6114388" y="293056"/>
            <a:ext cx="18279990" cy="1318889"/>
          </a:xfrm>
          <a:prstGeom prst="rect">
            <a:avLst/>
          </a:prstGeom>
        </p:spPr>
        <p:txBody>
          <a:bodyPr lIns="0" tIns="0" rIns="0" bIns="0" rtlCol="0" anchor="t">
            <a:spAutoFit/>
          </a:bodyPr>
          <a:lstStyle/>
          <a:p>
            <a:pPr algn="ctr">
              <a:lnSpc>
                <a:spcPts val="10780"/>
              </a:lnSpc>
            </a:pPr>
            <a:r>
              <a:rPr lang="en-US" sz="7700">
                <a:solidFill>
                  <a:srgbClr val="303330"/>
                </a:solidFill>
                <a:latin typeface="TDTD귀욤뭉이"/>
                <a:ea typeface="TDTD귀욤뭉이"/>
                <a:cs typeface="TDTD귀욤뭉이"/>
                <a:sym typeface="TDTD귀욤뭉이"/>
              </a:rPr>
              <a:t>5.3: Impact:</a:t>
            </a:r>
          </a:p>
        </p:txBody>
      </p:sp>
      <p:sp>
        <p:nvSpPr>
          <p:cNvPr id="7" name="TextBox 7"/>
          <p:cNvSpPr txBox="1"/>
          <p:nvPr/>
        </p:nvSpPr>
        <p:spPr>
          <a:xfrm>
            <a:off x="-833215" y="2192035"/>
            <a:ext cx="6048758" cy="728331"/>
          </a:xfrm>
          <a:prstGeom prst="rect">
            <a:avLst/>
          </a:prstGeom>
        </p:spPr>
        <p:txBody>
          <a:bodyPr lIns="0" tIns="0" rIns="0" bIns="0" rtlCol="0" anchor="t">
            <a:spAutoFit/>
          </a:bodyPr>
          <a:lstStyle/>
          <a:p>
            <a:pPr algn="ctr">
              <a:lnSpc>
                <a:spcPts val="6055"/>
              </a:lnSpc>
              <a:spcBef>
                <a:spcPct val="0"/>
              </a:spcBef>
            </a:pPr>
            <a:r>
              <a:rPr lang="en-US" sz="4325">
                <a:solidFill>
                  <a:srgbClr val="303330"/>
                </a:solidFill>
                <a:latin typeface="Bree Serif"/>
                <a:ea typeface="Bree Serif"/>
                <a:cs typeface="Bree Serif"/>
                <a:sym typeface="Bree Serif"/>
              </a:rPr>
              <a:t>Economique</a:t>
            </a:r>
          </a:p>
        </p:txBody>
      </p:sp>
      <p:sp>
        <p:nvSpPr>
          <p:cNvPr id="8" name="TextBox 8"/>
          <p:cNvSpPr txBox="1"/>
          <p:nvPr/>
        </p:nvSpPr>
        <p:spPr>
          <a:xfrm>
            <a:off x="4735410" y="2108370"/>
            <a:ext cx="6619291" cy="824800"/>
          </a:xfrm>
          <a:prstGeom prst="rect">
            <a:avLst/>
          </a:prstGeom>
        </p:spPr>
        <p:txBody>
          <a:bodyPr lIns="0" tIns="0" rIns="0" bIns="0" rtlCol="0" anchor="t">
            <a:spAutoFit/>
          </a:bodyPr>
          <a:lstStyle/>
          <a:p>
            <a:pPr algn="ctr">
              <a:lnSpc>
                <a:spcPts val="6640"/>
              </a:lnSpc>
              <a:spcBef>
                <a:spcPct val="0"/>
              </a:spcBef>
            </a:pPr>
            <a:r>
              <a:rPr lang="en-US" sz="4742">
                <a:solidFill>
                  <a:srgbClr val="303330"/>
                </a:solidFill>
                <a:latin typeface="TDTD귀욤뭉이"/>
                <a:ea typeface="TDTD귀욤뭉이"/>
                <a:cs typeface="TDTD귀욤뭉이"/>
                <a:sym typeface="TDTD귀욤뭉이"/>
              </a:rPr>
              <a:t>Social et technique</a:t>
            </a:r>
          </a:p>
        </p:txBody>
      </p:sp>
      <p:sp>
        <p:nvSpPr>
          <p:cNvPr id="9" name="TextBox 9"/>
          <p:cNvSpPr txBox="1"/>
          <p:nvPr/>
        </p:nvSpPr>
        <p:spPr>
          <a:xfrm>
            <a:off x="11007708" y="2163460"/>
            <a:ext cx="7280292" cy="863178"/>
          </a:xfrm>
          <a:prstGeom prst="rect">
            <a:avLst/>
          </a:prstGeom>
        </p:spPr>
        <p:txBody>
          <a:bodyPr lIns="0" tIns="0" rIns="0" bIns="0" rtlCol="0" anchor="t">
            <a:spAutoFit/>
          </a:bodyPr>
          <a:lstStyle/>
          <a:p>
            <a:pPr algn="ctr">
              <a:lnSpc>
                <a:spcPts val="7023"/>
              </a:lnSpc>
              <a:spcBef>
                <a:spcPct val="0"/>
              </a:spcBef>
            </a:pPr>
            <a:r>
              <a:rPr lang="en-US" sz="5016">
                <a:solidFill>
                  <a:srgbClr val="303330"/>
                </a:solidFill>
                <a:latin typeface="TDTD귀욤뭉이"/>
                <a:ea typeface="TDTD귀욤뭉이"/>
                <a:cs typeface="TDTD귀욤뭉이"/>
                <a:sym typeface="TDTD귀욤뭉이"/>
              </a:rPr>
              <a:t>Environnemental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FF8"/>
        </a:solidFill>
        <a:effectLst/>
      </p:bgPr>
    </p:bg>
    <p:spTree>
      <p:nvGrpSpPr>
        <p:cNvPr id="1" name=""/>
        <p:cNvGrpSpPr/>
        <p:nvPr/>
      </p:nvGrpSpPr>
      <p:grpSpPr>
        <a:xfrm>
          <a:off x="0" y="0"/>
          <a:ext cx="0" cy="0"/>
          <a:chOff x="0" y="0"/>
          <a:chExt cx="0" cy="0"/>
        </a:xfrm>
      </p:grpSpPr>
      <p:sp>
        <p:nvSpPr>
          <p:cNvPr id="2" name="TextBox 2"/>
          <p:cNvSpPr txBox="1"/>
          <p:nvPr/>
        </p:nvSpPr>
        <p:spPr>
          <a:xfrm>
            <a:off x="1848962" y="2895897"/>
            <a:ext cx="16439038" cy="6970351"/>
          </a:xfrm>
          <a:prstGeom prst="rect">
            <a:avLst/>
          </a:prstGeom>
        </p:spPr>
        <p:txBody>
          <a:bodyPr lIns="0" tIns="0" rIns="0" bIns="0" rtlCol="0" anchor="t">
            <a:spAutoFit/>
          </a:bodyPr>
          <a:lstStyle/>
          <a:p>
            <a:pPr algn="l">
              <a:lnSpc>
                <a:spcPts val="6899"/>
              </a:lnSpc>
            </a:pPr>
            <a:r>
              <a:rPr lang="en-US" sz="4928">
                <a:solidFill>
                  <a:srgbClr val="303330"/>
                </a:solidFill>
                <a:latin typeface="Canva Sans"/>
                <a:ea typeface="Canva Sans"/>
                <a:cs typeface="Canva Sans"/>
                <a:sym typeface="Canva Sans"/>
              </a:rPr>
              <a:t>GreenBrain</a:t>
            </a:r>
          </a:p>
          <a:p>
            <a:pPr marL="1063993" lvl="1" indent="-531997" algn="l">
              <a:lnSpc>
                <a:spcPts val="6899"/>
              </a:lnSpc>
              <a:buFont typeface="Arial"/>
              <a:buChar char="•"/>
            </a:pPr>
            <a:r>
              <a:rPr lang="en-US" sz="4928">
                <a:solidFill>
                  <a:srgbClr val="303330"/>
                </a:solidFill>
                <a:latin typeface="Canva Sans"/>
                <a:ea typeface="Canva Sans"/>
                <a:cs typeface="Canva Sans"/>
                <a:sym typeface="Canva Sans"/>
              </a:rPr>
              <a:t> Est basé sur une Drone  controlée et équipé de capteurs pour mesurer les facteurs concernées.</a:t>
            </a:r>
          </a:p>
          <a:p>
            <a:pPr marL="1063993" lvl="1" indent="-531997" algn="l">
              <a:lnSpc>
                <a:spcPts val="6899"/>
              </a:lnSpc>
              <a:buFont typeface="Arial"/>
              <a:buChar char="•"/>
            </a:pPr>
            <a:r>
              <a:rPr lang="en-US" sz="4928">
                <a:solidFill>
                  <a:srgbClr val="303330"/>
                </a:solidFill>
                <a:latin typeface="Canva Sans"/>
                <a:ea typeface="Canva Sans"/>
                <a:cs typeface="Canva Sans"/>
                <a:sym typeface="Canva Sans"/>
              </a:rPr>
              <a:t>Aide les agriculteurs à connaître les besoins réels en eau sans gasspillage</a:t>
            </a:r>
          </a:p>
          <a:p>
            <a:pPr marL="1063993" lvl="1" indent="-531997" algn="l">
              <a:lnSpc>
                <a:spcPts val="6899"/>
              </a:lnSpc>
              <a:buFont typeface="Arial"/>
              <a:buChar char="•"/>
            </a:pPr>
            <a:r>
              <a:rPr lang="en-US" sz="4928">
                <a:solidFill>
                  <a:srgbClr val="303330"/>
                </a:solidFill>
                <a:latin typeface="Canva Sans"/>
                <a:ea typeface="Canva Sans"/>
                <a:cs typeface="Canva Sans"/>
                <a:sym typeface="Canva Sans"/>
              </a:rPr>
              <a:t>Optimise l’irrigation et réduit le gaspillage.</a:t>
            </a:r>
          </a:p>
          <a:p>
            <a:pPr marL="1063993" lvl="1" indent="-531997" algn="l">
              <a:lnSpc>
                <a:spcPts val="6899"/>
              </a:lnSpc>
              <a:buFont typeface="Arial"/>
              <a:buChar char="•"/>
            </a:pPr>
            <a:r>
              <a:rPr lang="en-US" sz="4928">
                <a:solidFill>
                  <a:srgbClr val="303330"/>
                </a:solidFill>
                <a:latin typeface="Canva Sans"/>
                <a:ea typeface="Canva Sans"/>
                <a:cs typeface="Canva Sans"/>
                <a:sym typeface="Canva Sans"/>
              </a:rPr>
              <a:t>Contribue à une agriculture moderne et durable.</a:t>
            </a:r>
          </a:p>
          <a:p>
            <a:pPr algn="l">
              <a:lnSpc>
                <a:spcPts val="6899"/>
              </a:lnSpc>
              <a:spcBef>
                <a:spcPct val="0"/>
              </a:spcBef>
            </a:pPr>
            <a:endParaRPr lang="en-US" sz="4928">
              <a:solidFill>
                <a:srgbClr val="303330"/>
              </a:solidFill>
              <a:latin typeface="Canva Sans"/>
              <a:ea typeface="Canva Sans"/>
              <a:cs typeface="Canva Sans"/>
              <a:sym typeface="Canva Sans"/>
            </a:endParaRPr>
          </a:p>
        </p:txBody>
      </p:sp>
      <p:sp>
        <p:nvSpPr>
          <p:cNvPr id="3" name="Freeform 3"/>
          <p:cNvSpPr/>
          <p:nvPr/>
        </p:nvSpPr>
        <p:spPr>
          <a:xfrm>
            <a:off x="11958115" y="0"/>
            <a:ext cx="6041465" cy="3569957"/>
          </a:xfrm>
          <a:custGeom>
            <a:avLst/>
            <a:gdLst/>
            <a:ahLst/>
            <a:cxnLst/>
            <a:rect l="l" t="t" r="r" b="b"/>
            <a:pathLst>
              <a:path w="6041465" h="3569957">
                <a:moveTo>
                  <a:pt x="0" y="0"/>
                </a:moveTo>
                <a:lnTo>
                  <a:pt x="6041464" y="0"/>
                </a:lnTo>
                <a:lnTo>
                  <a:pt x="6041464" y="3569957"/>
                </a:lnTo>
                <a:lnTo>
                  <a:pt x="0" y="35699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13747" y="204500"/>
            <a:ext cx="5692220" cy="1476950"/>
          </a:xfrm>
          <a:prstGeom prst="rect">
            <a:avLst/>
          </a:prstGeom>
        </p:spPr>
        <p:txBody>
          <a:bodyPr lIns="0" tIns="0" rIns="0" bIns="0" rtlCol="0" anchor="t">
            <a:spAutoFit/>
          </a:bodyPr>
          <a:lstStyle/>
          <a:p>
            <a:pPr algn="l">
              <a:lnSpc>
                <a:spcPts val="12040"/>
              </a:lnSpc>
            </a:pPr>
            <a:r>
              <a:rPr lang="en-US" sz="8600">
                <a:solidFill>
                  <a:srgbClr val="307834"/>
                </a:solidFill>
                <a:latin typeface="TDTD귀욤뭉이"/>
                <a:ea typeface="TDTD귀욤뭉이"/>
                <a:cs typeface="TDTD귀욤뭉이"/>
                <a:sym typeface="TDTD귀욤뭉이"/>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521</Words>
  <Application>Microsoft Office PowerPoint</Application>
  <PresentationFormat>Custom</PresentationFormat>
  <Paragraphs>60</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Arial</vt:lpstr>
      <vt:lpstr>Bree Serif</vt:lpstr>
      <vt:lpstr>Chau Philomene</vt:lpstr>
      <vt:lpstr>Canva Sans</vt:lpstr>
      <vt:lpstr>TDTD귀욤뭉이</vt:lpstr>
      <vt:lpstr>Pompiere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Youth$Climate Hackathon</dc:title>
  <cp:lastModifiedBy>user</cp:lastModifiedBy>
  <cp:revision>7</cp:revision>
  <dcterms:created xsi:type="dcterms:W3CDTF">2006-08-16T00:00:00Z</dcterms:created>
  <dcterms:modified xsi:type="dcterms:W3CDTF">2025-11-02T16:05:57Z</dcterms:modified>
  <dc:identifier>DAG3iT1f_uA</dc:identifier>
</cp:coreProperties>
</file>